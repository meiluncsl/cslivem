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9144000" cy="6858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23" y="634441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28575">
            <a:solidFill>
              <a:srgbClr val="0434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4072128" y="6446518"/>
            <a:ext cx="999744" cy="2987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2807207"/>
            <a:ext cx="9144000" cy="841375"/>
          </a:xfrm>
          <a:custGeom>
            <a:avLst/>
            <a:gdLst/>
            <a:ahLst/>
            <a:cxnLst/>
            <a:rect l="l" t="t" r="r" b="b"/>
            <a:pathLst>
              <a:path w="9144000" h="841375">
                <a:moveTo>
                  <a:pt x="0" y="841247"/>
                </a:moveTo>
                <a:lnTo>
                  <a:pt x="9144000" y="841247"/>
                </a:lnTo>
                <a:lnTo>
                  <a:pt x="9144000" y="0"/>
                </a:lnTo>
                <a:lnTo>
                  <a:pt x="0" y="0"/>
                </a:lnTo>
                <a:lnTo>
                  <a:pt x="0" y="841247"/>
                </a:lnTo>
                <a:close/>
              </a:path>
            </a:pathLst>
          </a:custGeom>
          <a:solidFill>
            <a:srgbClr val="6984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08782" y="2945968"/>
            <a:ext cx="3726434" cy="530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04345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04345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04345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23" y="634441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28575">
            <a:solidFill>
              <a:srgbClr val="0434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4072128" y="6446518"/>
            <a:ext cx="999744" cy="298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4475" y="33985"/>
            <a:ext cx="4575048" cy="545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4345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27251" y="1419225"/>
            <a:ext cx="5889497" cy="264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4" Type="http://schemas.openxmlformats.org/officeDocument/2006/relationships/slideLayout" Target="../slideLayouts/slideLayout2.xml"/><Relationship Id="rId33" Type="http://schemas.openxmlformats.org/officeDocument/2006/relationships/image" Target="../media/image40.png"/><Relationship Id="rId32" Type="http://schemas.openxmlformats.org/officeDocument/2006/relationships/image" Target="../media/image39.png"/><Relationship Id="rId31" Type="http://schemas.openxmlformats.org/officeDocument/2006/relationships/image" Target="../media/image38.png"/><Relationship Id="rId30" Type="http://schemas.openxmlformats.org/officeDocument/2006/relationships/image" Target="../media/image37.png"/><Relationship Id="rId3" Type="http://schemas.openxmlformats.org/officeDocument/2006/relationships/image" Target="../media/image10.png"/><Relationship Id="rId29" Type="http://schemas.openxmlformats.org/officeDocument/2006/relationships/image" Target="../media/image36.png"/><Relationship Id="rId28" Type="http://schemas.openxmlformats.org/officeDocument/2006/relationships/image" Target="../media/image35.png"/><Relationship Id="rId27" Type="http://schemas.openxmlformats.org/officeDocument/2006/relationships/image" Target="../media/image34.png"/><Relationship Id="rId26" Type="http://schemas.openxmlformats.org/officeDocument/2006/relationships/image" Target="../media/image33.png"/><Relationship Id="rId25" Type="http://schemas.openxmlformats.org/officeDocument/2006/relationships/image" Target="../media/image32.png"/><Relationship Id="rId24" Type="http://schemas.openxmlformats.org/officeDocument/2006/relationships/image" Target="../media/image31.png"/><Relationship Id="rId23" Type="http://schemas.openxmlformats.org/officeDocument/2006/relationships/image" Target="../media/image30.png"/><Relationship Id="rId22" Type="http://schemas.openxmlformats.org/officeDocument/2006/relationships/image" Target="../media/image29.png"/><Relationship Id="rId21" Type="http://schemas.openxmlformats.org/officeDocument/2006/relationships/image" Target="../media/image28.png"/><Relationship Id="rId20" Type="http://schemas.openxmlformats.org/officeDocument/2006/relationships/image" Target="../media/image27.png"/><Relationship Id="rId2" Type="http://schemas.openxmlformats.org/officeDocument/2006/relationships/image" Target="../media/image9.png"/><Relationship Id="rId19" Type="http://schemas.openxmlformats.org/officeDocument/2006/relationships/image" Target="../media/image26.png"/><Relationship Id="rId18" Type="http://schemas.openxmlformats.org/officeDocument/2006/relationships/image" Target="../media/image25.png"/><Relationship Id="rId17" Type="http://schemas.openxmlformats.org/officeDocument/2006/relationships/image" Target="../media/image24.png"/><Relationship Id="rId16" Type="http://schemas.openxmlformats.org/officeDocument/2006/relationships/image" Target="../media/image23.png"/><Relationship Id="rId15" Type="http://schemas.openxmlformats.org/officeDocument/2006/relationships/image" Target="../media/image22.png"/><Relationship Id="rId14" Type="http://schemas.openxmlformats.org/officeDocument/2006/relationships/image" Target="../media/image21.png"/><Relationship Id="rId13" Type="http://schemas.openxmlformats.org/officeDocument/2006/relationships/image" Target="../media/image20.png"/><Relationship Id="rId12" Type="http://schemas.openxmlformats.org/officeDocument/2006/relationships/image" Target="../media/image19.png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4" Type="http://schemas.openxmlformats.org/officeDocument/2006/relationships/slideLayout" Target="../slideLayouts/slideLayout2.xml"/><Relationship Id="rId33" Type="http://schemas.openxmlformats.org/officeDocument/2006/relationships/image" Target="../media/image65.png"/><Relationship Id="rId32" Type="http://schemas.openxmlformats.org/officeDocument/2006/relationships/image" Target="../media/image64.png"/><Relationship Id="rId31" Type="http://schemas.openxmlformats.org/officeDocument/2006/relationships/image" Target="../media/image31.png"/><Relationship Id="rId30" Type="http://schemas.openxmlformats.org/officeDocument/2006/relationships/image" Target="../media/image63.png"/><Relationship Id="rId3" Type="http://schemas.openxmlformats.org/officeDocument/2006/relationships/image" Target="../media/image35.png"/><Relationship Id="rId29" Type="http://schemas.openxmlformats.org/officeDocument/2006/relationships/image" Target="../media/image62.png"/><Relationship Id="rId28" Type="http://schemas.openxmlformats.org/officeDocument/2006/relationships/image" Target="../media/image61.png"/><Relationship Id="rId27" Type="http://schemas.openxmlformats.org/officeDocument/2006/relationships/image" Target="../media/image60.png"/><Relationship Id="rId26" Type="http://schemas.openxmlformats.org/officeDocument/2006/relationships/image" Target="../media/image32.png"/><Relationship Id="rId25" Type="http://schemas.openxmlformats.org/officeDocument/2006/relationships/image" Target="../media/image59.png"/><Relationship Id="rId24" Type="http://schemas.openxmlformats.org/officeDocument/2006/relationships/image" Target="../media/image58.png"/><Relationship Id="rId23" Type="http://schemas.openxmlformats.org/officeDocument/2006/relationships/image" Target="../media/image57.png"/><Relationship Id="rId22" Type="http://schemas.openxmlformats.org/officeDocument/2006/relationships/image" Target="../media/image24.png"/><Relationship Id="rId21" Type="http://schemas.openxmlformats.org/officeDocument/2006/relationships/image" Target="../media/image23.png"/><Relationship Id="rId20" Type="http://schemas.openxmlformats.org/officeDocument/2006/relationships/image" Target="../media/image56.png"/><Relationship Id="rId2" Type="http://schemas.openxmlformats.org/officeDocument/2006/relationships/image" Target="../media/image42.png"/><Relationship Id="rId19" Type="http://schemas.openxmlformats.org/officeDocument/2006/relationships/image" Target="../media/image55.png"/><Relationship Id="rId18" Type="http://schemas.openxmlformats.org/officeDocument/2006/relationships/image" Target="../media/image26.png"/><Relationship Id="rId17" Type="http://schemas.openxmlformats.org/officeDocument/2006/relationships/image" Target="../media/image54.png"/><Relationship Id="rId16" Type="http://schemas.openxmlformats.org/officeDocument/2006/relationships/image" Target="../media/image53.png"/><Relationship Id="rId15" Type="http://schemas.openxmlformats.org/officeDocument/2006/relationships/image" Target="../media/image52.png"/><Relationship Id="rId14" Type="http://schemas.openxmlformats.org/officeDocument/2006/relationships/image" Target="../media/image51.png"/><Relationship Id="rId13" Type="http://schemas.openxmlformats.org/officeDocument/2006/relationships/image" Target="../media/image50.png"/><Relationship Id="rId12" Type="http://schemas.openxmlformats.org/officeDocument/2006/relationships/image" Target="../media/image20.png"/><Relationship Id="rId11" Type="http://schemas.openxmlformats.org/officeDocument/2006/relationships/image" Target="../media/image49.png"/><Relationship Id="rId10" Type="http://schemas.openxmlformats.org/officeDocument/2006/relationships/image" Target="../media/image48.png"/><Relationship Id="rId1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86308"/>
            <a:ext cx="9144000" cy="127000"/>
          </a:xfrm>
          <a:custGeom>
            <a:avLst/>
            <a:gdLst/>
            <a:ahLst/>
            <a:cxnLst/>
            <a:rect l="l" t="t" r="r" b="b"/>
            <a:pathLst>
              <a:path w="9144000" h="127000">
                <a:moveTo>
                  <a:pt x="0" y="127000"/>
                </a:moveTo>
                <a:lnTo>
                  <a:pt x="9144000" y="127000"/>
                </a:lnTo>
                <a:lnTo>
                  <a:pt x="9144000" y="0"/>
                </a:lnTo>
                <a:lnTo>
                  <a:pt x="0" y="0"/>
                </a:lnTo>
                <a:lnTo>
                  <a:pt x="0" y="127000"/>
                </a:lnTo>
                <a:close/>
              </a:path>
            </a:pathLst>
          </a:custGeom>
          <a:solidFill>
            <a:srgbClr val="6983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73988" y="1266901"/>
            <a:ext cx="7508240" cy="3319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A314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本演示介绍了机器应用程序与Nayax支付系统推荐的始终空闲的集成流程。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356870" marR="466725" indent="-344805">
              <a:lnSpc>
                <a:spcPct val="100000"/>
              </a:lnSpc>
              <a:spcBef>
                <a:spcPts val="5"/>
              </a:spcBef>
              <a:buFont typeface="Arial" panose="020B0604020202020204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solidFill>
                  <a:srgbClr val="0A314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在DCS中创建机器时，请使用机器型号：马歇尔远东马歇尔AIVPOST\O\F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Arial" panose="020B0604020202020204"/>
              <a:buChar char="•"/>
              <a:tabLst>
                <a:tab pos="299085" algn="l"/>
                <a:tab pos="299720" algn="l"/>
              </a:tabLst>
            </a:pPr>
            <a:r>
              <a:rPr sz="2400" spc="-45" dirty="0">
                <a:solidFill>
                  <a:srgbClr val="0A314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在SDK中，将标志-“总是空闲”设置为true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buFont typeface="Arial" panose="020B0604020202020204"/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solidFill>
                  <a:srgbClr val="0A314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如果自我开发，发送“阅读器启用”命令后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A314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配对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5240"/>
            <a:ext cx="9116695" cy="707390"/>
          </a:xfrm>
          <a:custGeom>
            <a:avLst/>
            <a:gdLst/>
            <a:ahLst/>
            <a:cxnLst/>
            <a:rect l="l" t="t" r="r" b="b"/>
            <a:pathLst>
              <a:path w="9116695" h="707390">
                <a:moveTo>
                  <a:pt x="0" y="707135"/>
                </a:moveTo>
                <a:lnTo>
                  <a:pt x="9116568" y="707135"/>
                </a:lnTo>
                <a:lnTo>
                  <a:pt x="9116568" y="0"/>
                </a:lnTo>
                <a:lnTo>
                  <a:pt x="0" y="0"/>
                </a:lnTo>
                <a:lnTo>
                  <a:pt x="0" y="7071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15917" y="18745"/>
            <a:ext cx="126365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dirty="0"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范围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27365" y="2933700"/>
            <a:ext cx="95885" cy="1184910"/>
          </a:xfrm>
          <a:custGeom>
            <a:avLst/>
            <a:gdLst/>
            <a:ahLst/>
            <a:cxnLst/>
            <a:rect l="l" t="t" r="r" b="b"/>
            <a:pathLst>
              <a:path w="95884" h="1184910">
                <a:moveTo>
                  <a:pt x="49796" y="1108282"/>
                </a:moveTo>
                <a:lnTo>
                  <a:pt x="19557" y="1108837"/>
                </a:lnTo>
                <a:lnTo>
                  <a:pt x="59181" y="1184402"/>
                </a:lnTo>
                <a:lnTo>
                  <a:pt x="89299" y="1121029"/>
                </a:lnTo>
                <a:lnTo>
                  <a:pt x="50037" y="1121029"/>
                </a:lnTo>
                <a:lnTo>
                  <a:pt x="49796" y="1108282"/>
                </a:lnTo>
                <a:close/>
              </a:path>
              <a:path w="95884" h="1184910">
                <a:moveTo>
                  <a:pt x="65672" y="1107991"/>
                </a:moveTo>
                <a:lnTo>
                  <a:pt x="49796" y="1108282"/>
                </a:lnTo>
                <a:lnTo>
                  <a:pt x="50037" y="1121029"/>
                </a:lnTo>
                <a:lnTo>
                  <a:pt x="65912" y="1120648"/>
                </a:lnTo>
                <a:lnTo>
                  <a:pt x="65672" y="1107991"/>
                </a:lnTo>
                <a:close/>
              </a:path>
              <a:path w="95884" h="1184910">
                <a:moveTo>
                  <a:pt x="95757" y="1107439"/>
                </a:moveTo>
                <a:lnTo>
                  <a:pt x="65672" y="1107991"/>
                </a:lnTo>
                <a:lnTo>
                  <a:pt x="65912" y="1120648"/>
                </a:lnTo>
                <a:lnTo>
                  <a:pt x="50037" y="1121029"/>
                </a:lnTo>
                <a:lnTo>
                  <a:pt x="89299" y="1121029"/>
                </a:lnTo>
                <a:lnTo>
                  <a:pt x="95757" y="1107439"/>
                </a:lnTo>
                <a:close/>
              </a:path>
              <a:path w="95884" h="1184910">
                <a:moveTo>
                  <a:pt x="46087" y="76040"/>
                </a:moveTo>
                <a:lnTo>
                  <a:pt x="30213" y="76357"/>
                </a:lnTo>
                <a:lnTo>
                  <a:pt x="49796" y="1108282"/>
                </a:lnTo>
                <a:lnTo>
                  <a:pt x="65672" y="1107991"/>
                </a:lnTo>
                <a:lnTo>
                  <a:pt x="46087" y="76040"/>
                </a:lnTo>
                <a:close/>
              </a:path>
              <a:path w="95884" h="1184910">
                <a:moveTo>
                  <a:pt x="36702" y="0"/>
                </a:moveTo>
                <a:lnTo>
                  <a:pt x="0" y="76962"/>
                </a:lnTo>
                <a:lnTo>
                  <a:pt x="30213" y="76357"/>
                </a:lnTo>
                <a:lnTo>
                  <a:pt x="29971" y="63626"/>
                </a:lnTo>
                <a:lnTo>
                  <a:pt x="45846" y="63373"/>
                </a:lnTo>
                <a:lnTo>
                  <a:pt x="69883" y="63373"/>
                </a:lnTo>
                <a:lnTo>
                  <a:pt x="36702" y="0"/>
                </a:lnTo>
                <a:close/>
              </a:path>
              <a:path w="95884" h="1184910">
                <a:moveTo>
                  <a:pt x="45846" y="63373"/>
                </a:moveTo>
                <a:lnTo>
                  <a:pt x="29971" y="63626"/>
                </a:lnTo>
                <a:lnTo>
                  <a:pt x="30213" y="76357"/>
                </a:lnTo>
                <a:lnTo>
                  <a:pt x="46087" y="76040"/>
                </a:lnTo>
                <a:lnTo>
                  <a:pt x="45846" y="63373"/>
                </a:lnTo>
                <a:close/>
              </a:path>
              <a:path w="95884" h="1184910">
                <a:moveTo>
                  <a:pt x="69883" y="63373"/>
                </a:moveTo>
                <a:lnTo>
                  <a:pt x="45846" y="63373"/>
                </a:lnTo>
                <a:lnTo>
                  <a:pt x="46087" y="76040"/>
                </a:lnTo>
                <a:lnTo>
                  <a:pt x="76200" y="75437"/>
                </a:lnTo>
                <a:lnTo>
                  <a:pt x="69883" y="63373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96083" y="4744211"/>
            <a:ext cx="1637030" cy="106045"/>
          </a:xfrm>
          <a:custGeom>
            <a:avLst/>
            <a:gdLst/>
            <a:ahLst/>
            <a:cxnLst/>
            <a:rect l="l" t="t" r="r" b="b"/>
            <a:pathLst>
              <a:path w="1637029" h="106045">
                <a:moveTo>
                  <a:pt x="75438" y="29337"/>
                </a:moveTo>
                <a:lnTo>
                  <a:pt x="0" y="68961"/>
                </a:lnTo>
                <a:lnTo>
                  <a:pt x="76962" y="105537"/>
                </a:lnTo>
                <a:lnTo>
                  <a:pt x="76365" y="75692"/>
                </a:lnTo>
                <a:lnTo>
                  <a:pt x="63627" y="75692"/>
                </a:lnTo>
                <a:lnTo>
                  <a:pt x="63373" y="59817"/>
                </a:lnTo>
                <a:lnTo>
                  <a:pt x="76042" y="59565"/>
                </a:lnTo>
                <a:lnTo>
                  <a:pt x="75438" y="29337"/>
                </a:lnTo>
                <a:close/>
              </a:path>
              <a:path w="1637029" h="106045">
                <a:moveTo>
                  <a:pt x="1622485" y="29844"/>
                </a:moveTo>
                <a:lnTo>
                  <a:pt x="1573021" y="29844"/>
                </a:lnTo>
                <a:lnTo>
                  <a:pt x="1573276" y="45719"/>
                </a:lnTo>
                <a:lnTo>
                  <a:pt x="1560606" y="45971"/>
                </a:lnTo>
                <a:lnTo>
                  <a:pt x="1561211" y="76200"/>
                </a:lnTo>
                <a:lnTo>
                  <a:pt x="1636649" y="36575"/>
                </a:lnTo>
                <a:lnTo>
                  <a:pt x="1622485" y="29844"/>
                </a:lnTo>
                <a:close/>
              </a:path>
              <a:path w="1637029" h="106045">
                <a:moveTo>
                  <a:pt x="76042" y="59565"/>
                </a:moveTo>
                <a:lnTo>
                  <a:pt x="63373" y="59817"/>
                </a:lnTo>
                <a:lnTo>
                  <a:pt x="63627" y="75692"/>
                </a:lnTo>
                <a:lnTo>
                  <a:pt x="76360" y="75439"/>
                </a:lnTo>
                <a:lnTo>
                  <a:pt x="76042" y="59565"/>
                </a:lnTo>
                <a:close/>
              </a:path>
              <a:path w="1637029" h="106045">
                <a:moveTo>
                  <a:pt x="76360" y="75439"/>
                </a:moveTo>
                <a:lnTo>
                  <a:pt x="63627" y="75692"/>
                </a:lnTo>
                <a:lnTo>
                  <a:pt x="76365" y="75692"/>
                </a:lnTo>
                <a:lnTo>
                  <a:pt x="76360" y="75439"/>
                </a:lnTo>
                <a:close/>
              </a:path>
              <a:path w="1637029" h="106045">
                <a:moveTo>
                  <a:pt x="1560288" y="30097"/>
                </a:moveTo>
                <a:lnTo>
                  <a:pt x="76042" y="59565"/>
                </a:lnTo>
                <a:lnTo>
                  <a:pt x="76360" y="75439"/>
                </a:lnTo>
                <a:lnTo>
                  <a:pt x="1560606" y="45971"/>
                </a:lnTo>
                <a:lnTo>
                  <a:pt x="1560288" y="30097"/>
                </a:lnTo>
                <a:close/>
              </a:path>
              <a:path w="1637029" h="106045">
                <a:moveTo>
                  <a:pt x="1573021" y="29844"/>
                </a:moveTo>
                <a:lnTo>
                  <a:pt x="1560288" y="30097"/>
                </a:lnTo>
                <a:lnTo>
                  <a:pt x="1560606" y="45971"/>
                </a:lnTo>
                <a:lnTo>
                  <a:pt x="1573276" y="45719"/>
                </a:lnTo>
                <a:lnTo>
                  <a:pt x="1573021" y="29844"/>
                </a:lnTo>
                <a:close/>
              </a:path>
              <a:path w="1637029" h="106045">
                <a:moveTo>
                  <a:pt x="1559687" y="0"/>
                </a:moveTo>
                <a:lnTo>
                  <a:pt x="1560288" y="30097"/>
                </a:lnTo>
                <a:lnTo>
                  <a:pt x="1573021" y="29844"/>
                </a:lnTo>
                <a:lnTo>
                  <a:pt x="1622485" y="29844"/>
                </a:lnTo>
                <a:lnTo>
                  <a:pt x="1559687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92983" y="62941"/>
            <a:ext cx="356362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5" dirty="0"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系统概述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0" y="774700"/>
            <a:ext cx="9144000" cy="127000"/>
          </a:xfrm>
          <a:custGeom>
            <a:avLst/>
            <a:gdLst/>
            <a:ahLst/>
            <a:cxnLst/>
            <a:rect l="l" t="t" r="r" b="b"/>
            <a:pathLst>
              <a:path w="9144000" h="127000">
                <a:moveTo>
                  <a:pt x="0" y="127000"/>
                </a:moveTo>
                <a:lnTo>
                  <a:pt x="9144000" y="127000"/>
                </a:lnTo>
                <a:lnTo>
                  <a:pt x="9144000" y="0"/>
                </a:lnTo>
                <a:lnTo>
                  <a:pt x="0" y="0"/>
                </a:lnTo>
                <a:lnTo>
                  <a:pt x="0" y="127000"/>
                </a:lnTo>
                <a:close/>
              </a:path>
            </a:pathLst>
          </a:custGeom>
          <a:solidFill>
            <a:srgbClr val="6983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701284" y="2276855"/>
            <a:ext cx="1769110" cy="76200"/>
          </a:xfrm>
          <a:custGeom>
            <a:avLst/>
            <a:gdLst/>
            <a:ahLst/>
            <a:cxnLst/>
            <a:rect l="l" t="t" r="r" b="b"/>
            <a:pathLst>
              <a:path w="176910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5974"/>
                </a:lnTo>
                <a:lnTo>
                  <a:pt x="63500" y="45974"/>
                </a:lnTo>
                <a:lnTo>
                  <a:pt x="63500" y="30099"/>
                </a:lnTo>
                <a:lnTo>
                  <a:pt x="76200" y="30099"/>
                </a:lnTo>
                <a:lnTo>
                  <a:pt x="76200" y="0"/>
                </a:lnTo>
                <a:close/>
              </a:path>
              <a:path w="1769109" h="76200">
                <a:moveTo>
                  <a:pt x="1692529" y="46100"/>
                </a:moveTo>
                <a:lnTo>
                  <a:pt x="1692529" y="76200"/>
                </a:lnTo>
                <a:lnTo>
                  <a:pt x="1752726" y="46101"/>
                </a:lnTo>
                <a:lnTo>
                  <a:pt x="1692529" y="46100"/>
                </a:lnTo>
                <a:close/>
              </a:path>
              <a:path w="1769109" h="76200">
                <a:moveTo>
                  <a:pt x="1692529" y="0"/>
                </a:moveTo>
                <a:lnTo>
                  <a:pt x="1692529" y="46100"/>
                </a:lnTo>
                <a:lnTo>
                  <a:pt x="1705229" y="46101"/>
                </a:lnTo>
                <a:lnTo>
                  <a:pt x="1705229" y="30099"/>
                </a:lnTo>
                <a:lnTo>
                  <a:pt x="1752727" y="30099"/>
                </a:lnTo>
                <a:lnTo>
                  <a:pt x="1692529" y="0"/>
                </a:lnTo>
                <a:close/>
              </a:path>
              <a:path w="1769109" h="76200">
                <a:moveTo>
                  <a:pt x="1752727" y="30099"/>
                </a:moveTo>
                <a:lnTo>
                  <a:pt x="1705229" y="30099"/>
                </a:lnTo>
                <a:lnTo>
                  <a:pt x="1705229" y="46101"/>
                </a:lnTo>
                <a:lnTo>
                  <a:pt x="1752728" y="46100"/>
                </a:lnTo>
                <a:lnTo>
                  <a:pt x="1768729" y="38100"/>
                </a:lnTo>
                <a:lnTo>
                  <a:pt x="1752727" y="30099"/>
                </a:lnTo>
                <a:close/>
              </a:path>
              <a:path w="1769109" h="76200">
                <a:moveTo>
                  <a:pt x="1692529" y="30099"/>
                </a:moveTo>
                <a:lnTo>
                  <a:pt x="76200" y="30099"/>
                </a:lnTo>
                <a:lnTo>
                  <a:pt x="76200" y="45974"/>
                </a:lnTo>
                <a:lnTo>
                  <a:pt x="1692529" y="46100"/>
                </a:lnTo>
                <a:lnTo>
                  <a:pt x="1692529" y="30099"/>
                </a:lnTo>
                <a:close/>
              </a:path>
              <a:path w="1769109" h="76200">
                <a:moveTo>
                  <a:pt x="76200" y="30099"/>
                </a:moveTo>
                <a:lnTo>
                  <a:pt x="63500" y="30099"/>
                </a:lnTo>
                <a:lnTo>
                  <a:pt x="63500" y="45974"/>
                </a:lnTo>
                <a:lnTo>
                  <a:pt x="76200" y="45974"/>
                </a:lnTo>
                <a:lnTo>
                  <a:pt x="76200" y="30099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36008" y="2854451"/>
            <a:ext cx="76200" cy="1160145"/>
          </a:xfrm>
          <a:custGeom>
            <a:avLst/>
            <a:gdLst/>
            <a:ahLst/>
            <a:cxnLst/>
            <a:rect l="l" t="t" r="r" b="b"/>
            <a:pathLst>
              <a:path w="76200" h="1160145">
                <a:moveTo>
                  <a:pt x="30099" y="1083691"/>
                </a:moveTo>
                <a:lnTo>
                  <a:pt x="0" y="1083691"/>
                </a:lnTo>
                <a:lnTo>
                  <a:pt x="38100" y="1159891"/>
                </a:lnTo>
                <a:lnTo>
                  <a:pt x="69850" y="1096391"/>
                </a:lnTo>
                <a:lnTo>
                  <a:pt x="30099" y="1096391"/>
                </a:lnTo>
                <a:lnTo>
                  <a:pt x="30099" y="1083691"/>
                </a:lnTo>
                <a:close/>
              </a:path>
              <a:path w="76200" h="1160145">
                <a:moveTo>
                  <a:pt x="45974" y="63500"/>
                </a:moveTo>
                <a:lnTo>
                  <a:pt x="30099" y="63500"/>
                </a:lnTo>
                <a:lnTo>
                  <a:pt x="30099" y="1096391"/>
                </a:lnTo>
                <a:lnTo>
                  <a:pt x="45974" y="1096391"/>
                </a:lnTo>
                <a:lnTo>
                  <a:pt x="45974" y="63500"/>
                </a:lnTo>
                <a:close/>
              </a:path>
              <a:path w="76200" h="1160145">
                <a:moveTo>
                  <a:pt x="76200" y="1083691"/>
                </a:moveTo>
                <a:lnTo>
                  <a:pt x="45974" y="1083691"/>
                </a:lnTo>
                <a:lnTo>
                  <a:pt x="45974" y="1096391"/>
                </a:lnTo>
                <a:lnTo>
                  <a:pt x="69850" y="1096391"/>
                </a:lnTo>
                <a:lnTo>
                  <a:pt x="76200" y="1083691"/>
                </a:lnTo>
                <a:close/>
              </a:path>
              <a:path w="76200" h="1160145">
                <a:moveTo>
                  <a:pt x="38100" y="0"/>
                </a:moveTo>
                <a:lnTo>
                  <a:pt x="0" y="76200"/>
                </a:lnTo>
                <a:lnTo>
                  <a:pt x="30099" y="76200"/>
                </a:lnTo>
                <a:lnTo>
                  <a:pt x="30099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160145">
                <a:moveTo>
                  <a:pt x="69850" y="63500"/>
                </a:moveTo>
                <a:lnTo>
                  <a:pt x="45974" y="63500"/>
                </a:lnTo>
                <a:lnTo>
                  <a:pt x="45974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72511" y="4654296"/>
            <a:ext cx="927100" cy="268605"/>
          </a:xfrm>
          <a:custGeom>
            <a:avLst/>
            <a:gdLst/>
            <a:ahLst/>
            <a:cxnLst/>
            <a:rect l="l" t="t" r="r" b="b"/>
            <a:pathLst>
              <a:path w="927100" h="268604">
                <a:moveTo>
                  <a:pt x="0" y="268223"/>
                </a:moveTo>
                <a:lnTo>
                  <a:pt x="926591" y="268223"/>
                </a:lnTo>
                <a:lnTo>
                  <a:pt x="926591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93085" y="4630927"/>
            <a:ext cx="88328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4140" marR="5080" indent="-92075">
              <a:lnSpc>
                <a:spcPct val="100000"/>
              </a:lnSpc>
              <a:spcBef>
                <a:spcPts val="110"/>
              </a:spcBef>
            </a:pPr>
            <a:r>
              <a:rPr sz="900" i="1" dirty="0"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与银行/网关的沟通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2698" y="5399023"/>
            <a:ext cx="10375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银行/付款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R="23495" algn="ctr">
              <a:lnSpc>
                <a:spcPct val="100000"/>
              </a:lnSpc>
            </a:pPr>
            <a:r>
              <a:rPr sz="1200" b="1" spc="-1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门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09998" y="1222324"/>
            <a:ext cx="7810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VPOS触摸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33520" y="5380735"/>
            <a:ext cx="13150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Nayax的遥测和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30480">
              <a:lnSpc>
                <a:spcPct val="100000"/>
              </a:lnSpc>
            </a:pPr>
            <a:r>
              <a:rPr sz="12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监控服务器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15967" y="3279647"/>
            <a:ext cx="737870" cy="268605"/>
          </a:xfrm>
          <a:custGeom>
            <a:avLst/>
            <a:gdLst/>
            <a:ahLst/>
            <a:cxnLst/>
            <a:rect l="l" t="t" r="r" b="b"/>
            <a:pathLst>
              <a:path w="737870" h="268604">
                <a:moveTo>
                  <a:pt x="0" y="268224"/>
                </a:moveTo>
                <a:lnTo>
                  <a:pt x="737615" y="268224"/>
                </a:lnTo>
                <a:lnTo>
                  <a:pt x="737615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243196" y="3257550"/>
            <a:ext cx="88265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i="1" dirty="0"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与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22445" y="3394710"/>
            <a:ext cx="75374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i="1" dirty="0"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Nayax服务器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64856" y="5380735"/>
            <a:ext cx="7353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后台办公室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R="22225" algn="ctr">
              <a:lnSpc>
                <a:spcPct val="100000"/>
              </a:lnSpc>
            </a:pPr>
            <a:r>
              <a:rPr sz="12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服务器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13120" y="2103120"/>
            <a:ext cx="1344295" cy="563880"/>
          </a:xfrm>
          <a:custGeom>
            <a:avLst/>
            <a:gdLst/>
            <a:ahLst/>
            <a:cxnLst/>
            <a:rect l="l" t="t" r="r" b="b"/>
            <a:pathLst>
              <a:path w="1344295" h="563880">
                <a:moveTo>
                  <a:pt x="0" y="563879"/>
                </a:moveTo>
                <a:lnTo>
                  <a:pt x="1344168" y="563879"/>
                </a:lnTo>
                <a:lnTo>
                  <a:pt x="1344168" y="0"/>
                </a:lnTo>
                <a:lnTo>
                  <a:pt x="0" y="0"/>
                </a:lnTo>
                <a:lnTo>
                  <a:pt x="0" y="5638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955284" y="2082241"/>
            <a:ext cx="1230630" cy="45402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065" marR="5080" indent="10795" algn="ctr">
              <a:lnSpc>
                <a:spcPct val="100000"/>
              </a:lnSpc>
              <a:spcBef>
                <a:spcPts val="115"/>
              </a:spcBef>
            </a:pPr>
            <a:r>
              <a:rPr sz="900" i="1" spc="5" dirty="0"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用于事务管理的串口，马歇尔协议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52288" y="2874264"/>
            <a:ext cx="2292350" cy="1589405"/>
          </a:xfrm>
          <a:custGeom>
            <a:avLst/>
            <a:gdLst/>
            <a:ahLst/>
            <a:cxnLst/>
            <a:rect l="l" t="t" r="r" b="b"/>
            <a:pathLst>
              <a:path w="2292350" h="1589404">
                <a:moveTo>
                  <a:pt x="2292350" y="1588897"/>
                </a:moveTo>
                <a:lnTo>
                  <a:pt x="0" y="0"/>
                </a:lnTo>
              </a:path>
            </a:pathLst>
          </a:custGeom>
          <a:ln w="12700">
            <a:solidFill>
              <a:srgbClr val="F79546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748016" y="3401567"/>
            <a:ext cx="902335" cy="268605"/>
          </a:xfrm>
          <a:custGeom>
            <a:avLst/>
            <a:gdLst/>
            <a:ahLst/>
            <a:cxnLst/>
            <a:rect l="l" t="t" r="r" b="b"/>
            <a:pathLst>
              <a:path w="902334" h="268604">
                <a:moveTo>
                  <a:pt x="0" y="268223"/>
                </a:moveTo>
                <a:lnTo>
                  <a:pt x="902207" y="268223"/>
                </a:lnTo>
                <a:lnTo>
                  <a:pt x="902207" y="0"/>
                </a:lnTo>
                <a:lnTo>
                  <a:pt x="0" y="0"/>
                </a:lnTo>
                <a:lnTo>
                  <a:pt x="0" y="2682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758176" y="3378835"/>
            <a:ext cx="88265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i="1" dirty="0"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与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45983" y="3515995"/>
            <a:ext cx="90868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i="1" spc="5" dirty="0"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第三方服务器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11516" y="1280540"/>
            <a:ext cx="746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509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机器应用程序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37360" y="2152307"/>
            <a:ext cx="433552" cy="43355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44383" y="1822704"/>
            <a:ext cx="1033780" cy="1030605"/>
          </a:xfrm>
          <a:custGeom>
            <a:avLst/>
            <a:gdLst/>
            <a:ahLst/>
            <a:cxnLst/>
            <a:rect l="l" t="t" r="r" b="b"/>
            <a:pathLst>
              <a:path w="1033779" h="1030605">
                <a:moveTo>
                  <a:pt x="516636" y="0"/>
                </a:moveTo>
                <a:lnTo>
                  <a:pt x="469605" y="2105"/>
                </a:lnTo>
                <a:lnTo>
                  <a:pt x="423759" y="8299"/>
                </a:lnTo>
                <a:lnTo>
                  <a:pt x="379280" y="18400"/>
                </a:lnTo>
                <a:lnTo>
                  <a:pt x="336349" y="32227"/>
                </a:lnTo>
                <a:lnTo>
                  <a:pt x="295149" y="49597"/>
                </a:lnTo>
                <a:lnTo>
                  <a:pt x="255862" y="70329"/>
                </a:lnTo>
                <a:lnTo>
                  <a:pt x="218671" y="94241"/>
                </a:lnTo>
                <a:lnTo>
                  <a:pt x="183758" y="121150"/>
                </a:lnTo>
                <a:lnTo>
                  <a:pt x="151304" y="150876"/>
                </a:lnTo>
                <a:lnTo>
                  <a:pt x="121493" y="183235"/>
                </a:lnTo>
                <a:lnTo>
                  <a:pt x="94507" y="218046"/>
                </a:lnTo>
                <a:lnTo>
                  <a:pt x="70527" y="255128"/>
                </a:lnTo>
                <a:lnTo>
                  <a:pt x="49736" y="294299"/>
                </a:lnTo>
                <a:lnTo>
                  <a:pt x="32317" y="335376"/>
                </a:lnTo>
                <a:lnTo>
                  <a:pt x="18452" y="378177"/>
                </a:lnTo>
                <a:lnTo>
                  <a:pt x="8322" y="422522"/>
                </a:lnTo>
                <a:lnTo>
                  <a:pt x="2110" y="468227"/>
                </a:lnTo>
                <a:lnTo>
                  <a:pt x="0" y="515112"/>
                </a:lnTo>
                <a:lnTo>
                  <a:pt x="2110" y="561996"/>
                </a:lnTo>
                <a:lnTo>
                  <a:pt x="8322" y="607701"/>
                </a:lnTo>
                <a:lnTo>
                  <a:pt x="18452" y="652046"/>
                </a:lnTo>
                <a:lnTo>
                  <a:pt x="32317" y="694847"/>
                </a:lnTo>
                <a:lnTo>
                  <a:pt x="49736" y="735924"/>
                </a:lnTo>
                <a:lnTo>
                  <a:pt x="70527" y="775095"/>
                </a:lnTo>
                <a:lnTo>
                  <a:pt x="94507" y="812177"/>
                </a:lnTo>
                <a:lnTo>
                  <a:pt x="121493" y="846988"/>
                </a:lnTo>
                <a:lnTo>
                  <a:pt x="151304" y="879348"/>
                </a:lnTo>
                <a:lnTo>
                  <a:pt x="183758" y="909073"/>
                </a:lnTo>
                <a:lnTo>
                  <a:pt x="218671" y="935982"/>
                </a:lnTo>
                <a:lnTo>
                  <a:pt x="255862" y="959894"/>
                </a:lnTo>
                <a:lnTo>
                  <a:pt x="295149" y="980626"/>
                </a:lnTo>
                <a:lnTo>
                  <a:pt x="336349" y="997996"/>
                </a:lnTo>
                <a:lnTo>
                  <a:pt x="379280" y="1011823"/>
                </a:lnTo>
                <a:lnTo>
                  <a:pt x="423759" y="1021924"/>
                </a:lnTo>
                <a:lnTo>
                  <a:pt x="469605" y="1028118"/>
                </a:lnTo>
                <a:lnTo>
                  <a:pt x="516636" y="1030224"/>
                </a:lnTo>
                <a:lnTo>
                  <a:pt x="563666" y="1028118"/>
                </a:lnTo>
                <a:lnTo>
                  <a:pt x="609512" y="1021924"/>
                </a:lnTo>
                <a:lnTo>
                  <a:pt x="653991" y="1011823"/>
                </a:lnTo>
                <a:lnTo>
                  <a:pt x="696922" y="997996"/>
                </a:lnTo>
                <a:lnTo>
                  <a:pt x="738122" y="980626"/>
                </a:lnTo>
                <a:lnTo>
                  <a:pt x="777409" y="959894"/>
                </a:lnTo>
                <a:lnTo>
                  <a:pt x="814600" y="935982"/>
                </a:lnTo>
                <a:lnTo>
                  <a:pt x="849513" y="909073"/>
                </a:lnTo>
                <a:lnTo>
                  <a:pt x="881967" y="879348"/>
                </a:lnTo>
                <a:lnTo>
                  <a:pt x="911778" y="846988"/>
                </a:lnTo>
                <a:lnTo>
                  <a:pt x="938764" y="812177"/>
                </a:lnTo>
                <a:lnTo>
                  <a:pt x="962744" y="775095"/>
                </a:lnTo>
                <a:lnTo>
                  <a:pt x="983535" y="735924"/>
                </a:lnTo>
                <a:lnTo>
                  <a:pt x="1000954" y="694847"/>
                </a:lnTo>
                <a:lnTo>
                  <a:pt x="1014819" y="652046"/>
                </a:lnTo>
                <a:lnTo>
                  <a:pt x="1024949" y="607701"/>
                </a:lnTo>
                <a:lnTo>
                  <a:pt x="1031161" y="561996"/>
                </a:lnTo>
                <a:lnTo>
                  <a:pt x="1033272" y="515112"/>
                </a:lnTo>
                <a:lnTo>
                  <a:pt x="1031161" y="468227"/>
                </a:lnTo>
                <a:lnTo>
                  <a:pt x="1024949" y="422522"/>
                </a:lnTo>
                <a:lnTo>
                  <a:pt x="1014819" y="378177"/>
                </a:lnTo>
                <a:lnTo>
                  <a:pt x="1000954" y="335376"/>
                </a:lnTo>
                <a:lnTo>
                  <a:pt x="983535" y="294299"/>
                </a:lnTo>
                <a:lnTo>
                  <a:pt x="962744" y="255128"/>
                </a:lnTo>
                <a:lnTo>
                  <a:pt x="938764" y="218046"/>
                </a:lnTo>
                <a:lnTo>
                  <a:pt x="911778" y="183235"/>
                </a:lnTo>
                <a:lnTo>
                  <a:pt x="881967" y="150876"/>
                </a:lnTo>
                <a:lnTo>
                  <a:pt x="849513" y="121150"/>
                </a:lnTo>
                <a:lnTo>
                  <a:pt x="814600" y="94241"/>
                </a:lnTo>
                <a:lnTo>
                  <a:pt x="777409" y="70329"/>
                </a:lnTo>
                <a:lnTo>
                  <a:pt x="738122" y="49597"/>
                </a:lnTo>
                <a:lnTo>
                  <a:pt x="696922" y="32227"/>
                </a:lnTo>
                <a:lnTo>
                  <a:pt x="653991" y="18400"/>
                </a:lnTo>
                <a:lnTo>
                  <a:pt x="609512" y="8299"/>
                </a:lnTo>
                <a:lnTo>
                  <a:pt x="563666" y="2105"/>
                </a:lnTo>
                <a:lnTo>
                  <a:pt x="5166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44383" y="1822704"/>
            <a:ext cx="1033780" cy="1030605"/>
          </a:xfrm>
          <a:custGeom>
            <a:avLst/>
            <a:gdLst/>
            <a:ahLst/>
            <a:cxnLst/>
            <a:rect l="l" t="t" r="r" b="b"/>
            <a:pathLst>
              <a:path w="1033779" h="1030605">
                <a:moveTo>
                  <a:pt x="0" y="515112"/>
                </a:moveTo>
                <a:lnTo>
                  <a:pt x="2110" y="468227"/>
                </a:lnTo>
                <a:lnTo>
                  <a:pt x="8322" y="422522"/>
                </a:lnTo>
                <a:lnTo>
                  <a:pt x="18452" y="378177"/>
                </a:lnTo>
                <a:lnTo>
                  <a:pt x="32317" y="335376"/>
                </a:lnTo>
                <a:lnTo>
                  <a:pt x="49736" y="294299"/>
                </a:lnTo>
                <a:lnTo>
                  <a:pt x="70527" y="255128"/>
                </a:lnTo>
                <a:lnTo>
                  <a:pt x="94507" y="218046"/>
                </a:lnTo>
                <a:lnTo>
                  <a:pt x="121493" y="183235"/>
                </a:lnTo>
                <a:lnTo>
                  <a:pt x="151304" y="150875"/>
                </a:lnTo>
                <a:lnTo>
                  <a:pt x="183758" y="121150"/>
                </a:lnTo>
                <a:lnTo>
                  <a:pt x="218671" y="94241"/>
                </a:lnTo>
                <a:lnTo>
                  <a:pt x="255862" y="70329"/>
                </a:lnTo>
                <a:lnTo>
                  <a:pt x="295149" y="49597"/>
                </a:lnTo>
                <a:lnTo>
                  <a:pt x="336349" y="32227"/>
                </a:lnTo>
                <a:lnTo>
                  <a:pt x="379280" y="18400"/>
                </a:lnTo>
                <a:lnTo>
                  <a:pt x="423759" y="8299"/>
                </a:lnTo>
                <a:lnTo>
                  <a:pt x="469605" y="2105"/>
                </a:lnTo>
                <a:lnTo>
                  <a:pt x="516636" y="0"/>
                </a:lnTo>
                <a:lnTo>
                  <a:pt x="563666" y="2105"/>
                </a:lnTo>
                <a:lnTo>
                  <a:pt x="609512" y="8299"/>
                </a:lnTo>
                <a:lnTo>
                  <a:pt x="653991" y="18400"/>
                </a:lnTo>
                <a:lnTo>
                  <a:pt x="696922" y="32227"/>
                </a:lnTo>
                <a:lnTo>
                  <a:pt x="738122" y="49597"/>
                </a:lnTo>
                <a:lnTo>
                  <a:pt x="777409" y="70329"/>
                </a:lnTo>
                <a:lnTo>
                  <a:pt x="814600" y="94241"/>
                </a:lnTo>
                <a:lnTo>
                  <a:pt x="849513" y="121150"/>
                </a:lnTo>
                <a:lnTo>
                  <a:pt x="881967" y="150876"/>
                </a:lnTo>
                <a:lnTo>
                  <a:pt x="911778" y="183235"/>
                </a:lnTo>
                <a:lnTo>
                  <a:pt x="938764" y="218046"/>
                </a:lnTo>
                <a:lnTo>
                  <a:pt x="962744" y="255128"/>
                </a:lnTo>
                <a:lnTo>
                  <a:pt x="983535" y="294299"/>
                </a:lnTo>
                <a:lnTo>
                  <a:pt x="1000954" y="335376"/>
                </a:lnTo>
                <a:lnTo>
                  <a:pt x="1014819" y="378177"/>
                </a:lnTo>
                <a:lnTo>
                  <a:pt x="1024949" y="422522"/>
                </a:lnTo>
                <a:lnTo>
                  <a:pt x="1031161" y="468227"/>
                </a:lnTo>
                <a:lnTo>
                  <a:pt x="1033272" y="515112"/>
                </a:lnTo>
                <a:lnTo>
                  <a:pt x="1031161" y="561996"/>
                </a:lnTo>
                <a:lnTo>
                  <a:pt x="1024949" y="607701"/>
                </a:lnTo>
                <a:lnTo>
                  <a:pt x="1014819" y="652046"/>
                </a:lnTo>
                <a:lnTo>
                  <a:pt x="1000954" y="694847"/>
                </a:lnTo>
                <a:lnTo>
                  <a:pt x="983535" y="735924"/>
                </a:lnTo>
                <a:lnTo>
                  <a:pt x="962744" y="775095"/>
                </a:lnTo>
                <a:lnTo>
                  <a:pt x="938764" y="812177"/>
                </a:lnTo>
                <a:lnTo>
                  <a:pt x="911778" y="846988"/>
                </a:lnTo>
                <a:lnTo>
                  <a:pt x="881967" y="879348"/>
                </a:lnTo>
                <a:lnTo>
                  <a:pt x="849513" y="909073"/>
                </a:lnTo>
                <a:lnTo>
                  <a:pt x="814600" y="935982"/>
                </a:lnTo>
                <a:lnTo>
                  <a:pt x="777409" y="959894"/>
                </a:lnTo>
                <a:lnTo>
                  <a:pt x="738122" y="980626"/>
                </a:lnTo>
                <a:lnTo>
                  <a:pt x="696922" y="997996"/>
                </a:lnTo>
                <a:lnTo>
                  <a:pt x="653991" y="1011823"/>
                </a:lnTo>
                <a:lnTo>
                  <a:pt x="609512" y="1021924"/>
                </a:lnTo>
                <a:lnTo>
                  <a:pt x="563666" y="1028118"/>
                </a:lnTo>
                <a:lnTo>
                  <a:pt x="516636" y="1030224"/>
                </a:lnTo>
                <a:lnTo>
                  <a:pt x="469605" y="1028118"/>
                </a:lnTo>
                <a:lnTo>
                  <a:pt x="423759" y="1021924"/>
                </a:lnTo>
                <a:lnTo>
                  <a:pt x="379280" y="1011823"/>
                </a:lnTo>
                <a:lnTo>
                  <a:pt x="336349" y="997996"/>
                </a:lnTo>
                <a:lnTo>
                  <a:pt x="295149" y="980626"/>
                </a:lnTo>
                <a:lnTo>
                  <a:pt x="255862" y="959894"/>
                </a:lnTo>
                <a:lnTo>
                  <a:pt x="218671" y="935982"/>
                </a:lnTo>
                <a:lnTo>
                  <a:pt x="183758" y="909073"/>
                </a:lnTo>
                <a:lnTo>
                  <a:pt x="151304" y="879348"/>
                </a:lnTo>
                <a:lnTo>
                  <a:pt x="121493" y="846988"/>
                </a:lnTo>
                <a:lnTo>
                  <a:pt x="94507" y="812177"/>
                </a:lnTo>
                <a:lnTo>
                  <a:pt x="70527" y="775095"/>
                </a:lnTo>
                <a:lnTo>
                  <a:pt x="49736" y="735924"/>
                </a:lnTo>
                <a:lnTo>
                  <a:pt x="32317" y="694847"/>
                </a:lnTo>
                <a:lnTo>
                  <a:pt x="18452" y="652046"/>
                </a:lnTo>
                <a:lnTo>
                  <a:pt x="8322" y="607701"/>
                </a:lnTo>
                <a:lnTo>
                  <a:pt x="2110" y="561996"/>
                </a:lnTo>
                <a:lnTo>
                  <a:pt x="0" y="515112"/>
                </a:lnTo>
                <a:close/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04496" y="4551083"/>
            <a:ext cx="435057" cy="433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13816" y="4221479"/>
            <a:ext cx="1030605" cy="1030605"/>
          </a:xfrm>
          <a:custGeom>
            <a:avLst/>
            <a:gdLst/>
            <a:ahLst/>
            <a:cxnLst/>
            <a:rect l="l" t="t" r="r" b="b"/>
            <a:pathLst>
              <a:path w="1030605" h="1030604">
                <a:moveTo>
                  <a:pt x="515112" y="0"/>
                </a:moveTo>
                <a:lnTo>
                  <a:pt x="468225" y="2105"/>
                </a:lnTo>
                <a:lnTo>
                  <a:pt x="422518" y="8299"/>
                </a:lnTo>
                <a:lnTo>
                  <a:pt x="378173" y="18400"/>
                </a:lnTo>
                <a:lnTo>
                  <a:pt x="335371" y="32227"/>
                </a:lnTo>
                <a:lnTo>
                  <a:pt x="294293" y="49597"/>
                </a:lnTo>
                <a:lnTo>
                  <a:pt x="255123" y="70329"/>
                </a:lnTo>
                <a:lnTo>
                  <a:pt x="218041" y="94241"/>
                </a:lnTo>
                <a:lnTo>
                  <a:pt x="183230" y="121150"/>
                </a:lnTo>
                <a:lnTo>
                  <a:pt x="150871" y="150876"/>
                </a:lnTo>
                <a:lnTo>
                  <a:pt x="121146" y="183235"/>
                </a:lnTo>
                <a:lnTo>
                  <a:pt x="94237" y="218046"/>
                </a:lnTo>
                <a:lnTo>
                  <a:pt x="70326" y="255128"/>
                </a:lnTo>
                <a:lnTo>
                  <a:pt x="49595" y="294299"/>
                </a:lnTo>
                <a:lnTo>
                  <a:pt x="32226" y="335376"/>
                </a:lnTo>
                <a:lnTo>
                  <a:pt x="18400" y="378177"/>
                </a:lnTo>
                <a:lnTo>
                  <a:pt x="8299" y="422522"/>
                </a:lnTo>
                <a:lnTo>
                  <a:pt x="2105" y="468227"/>
                </a:lnTo>
                <a:lnTo>
                  <a:pt x="0" y="515112"/>
                </a:lnTo>
                <a:lnTo>
                  <a:pt x="2105" y="561996"/>
                </a:lnTo>
                <a:lnTo>
                  <a:pt x="8299" y="607701"/>
                </a:lnTo>
                <a:lnTo>
                  <a:pt x="18400" y="652046"/>
                </a:lnTo>
                <a:lnTo>
                  <a:pt x="32226" y="694847"/>
                </a:lnTo>
                <a:lnTo>
                  <a:pt x="49595" y="735924"/>
                </a:lnTo>
                <a:lnTo>
                  <a:pt x="70326" y="775095"/>
                </a:lnTo>
                <a:lnTo>
                  <a:pt x="94237" y="812177"/>
                </a:lnTo>
                <a:lnTo>
                  <a:pt x="121146" y="846988"/>
                </a:lnTo>
                <a:lnTo>
                  <a:pt x="150871" y="879348"/>
                </a:lnTo>
                <a:lnTo>
                  <a:pt x="183230" y="909073"/>
                </a:lnTo>
                <a:lnTo>
                  <a:pt x="218041" y="935982"/>
                </a:lnTo>
                <a:lnTo>
                  <a:pt x="255123" y="959894"/>
                </a:lnTo>
                <a:lnTo>
                  <a:pt x="294293" y="980626"/>
                </a:lnTo>
                <a:lnTo>
                  <a:pt x="335371" y="997996"/>
                </a:lnTo>
                <a:lnTo>
                  <a:pt x="378173" y="1011823"/>
                </a:lnTo>
                <a:lnTo>
                  <a:pt x="422518" y="1021924"/>
                </a:lnTo>
                <a:lnTo>
                  <a:pt x="468225" y="1028118"/>
                </a:lnTo>
                <a:lnTo>
                  <a:pt x="515112" y="1030224"/>
                </a:lnTo>
                <a:lnTo>
                  <a:pt x="561996" y="1028118"/>
                </a:lnTo>
                <a:lnTo>
                  <a:pt x="607701" y="1021924"/>
                </a:lnTo>
                <a:lnTo>
                  <a:pt x="652046" y="1011823"/>
                </a:lnTo>
                <a:lnTo>
                  <a:pt x="694847" y="997996"/>
                </a:lnTo>
                <a:lnTo>
                  <a:pt x="735924" y="980626"/>
                </a:lnTo>
                <a:lnTo>
                  <a:pt x="775095" y="959894"/>
                </a:lnTo>
                <a:lnTo>
                  <a:pt x="812177" y="935982"/>
                </a:lnTo>
                <a:lnTo>
                  <a:pt x="846988" y="909073"/>
                </a:lnTo>
                <a:lnTo>
                  <a:pt x="879347" y="879348"/>
                </a:lnTo>
                <a:lnTo>
                  <a:pt x="909073" y="846988"/>
                </a:lnTo>
                <a:lnTo>
                  <a:pt x="935982" y="812177"/>
                </a:lnTo>
                <a:lnTo>
                  <a:pt x="959894" y="775095"/>
                </a:lnTo>
                <a:lnTo>
                  <a:pt x="980626" y="735924"/>
                </a:lnTo>
                <a:lnTo>
                  <a:pt x="997996" y="694847"/>
                </a:lnTo>
                <a:lnTo>
                  <a:pt x="1011823" y="652046"/>
                </a:lnTo>
                <a:lnTo>
                  <a:pt x="1021924" y="607701"/>
                </a:lnTo>
                <a:lnTo>
                  <a:pt x="1028118" y="561996"/>
                </a:lnTo>
                <a:lnTo>
                  <a:pt x="1030223" y="515112"/>
                </a:lnTo>
                <a:lnTo>
                  <a:pt x="1028118" y="468227"/>
                </a:lnTo>
                <a:lnTo>
                  <a:pt x="1021924" y="422522"/>
                </a:lnTo>
                <a:lnTo>
                  <a:pt x="1011823" y="378177"/>
                </a:lnTo>
                <a:lnTo>
                  <a:pt x="997996" y="335376"/>
                </a:lnTo>
                <a:lnTo>
                  <a:pt x="980626" y="294299"/>
                </a:lnTo>
                <a:lnTo>
                  <a:pt x="959894" y="255128"/>
                </a:lnTo>
                <a:lnTo>
                  <a:pt x="935982" y="218046"/>
                </a:lnTo>
                <a:lnTo>
                  <a:pt x="909073" y="183235"/>
                </a:lnTo>
                <a:lnTo>
                  <a:pt x="879347" y="150876"/>
                </a:lnTo>
                <a:lnTo>
                  <a:pt x="846988" y="121150"/>
                </a:lnTo>
                <a:lnTo>
                  <a:pt x="812177" y="94241"/>
                </a:lnTo>
                <a:lnTo>
                  <a:pt x="775095" y="70329"/>
                </a:lnTo>
                <a:lnTo>
                  <a:pt x="735924" y="49597"/>
                </a:lnTo>
                <a:lnTo>
                  <a:pt x="694847" y="32227"/>
                </a:lnTo>
                <a:lnTo>
                  <a:pt x="652046" y="18400"/>
                </a:lnTo>
                <a:lnTo>
                  <a:pt x="607701" y="8299"/>
                </a:lnTo>
                <a:lnTo>
                  <a:pt x="561996" y="2105"/>
                </a:lnTo>
                <a:lnTo>
                  <a:pt x="5151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13816" y="4221479"/>
            <a:ext cx="1030605" cy="1030605"/>
          </a:xfrm>
          <a:custGeom>
            <a:avLst/>
            <a:gdLst/>
            <a:ahLst/>
            <a:cxnLst/>
            <a:rect l="l" t="t" r="r" b="b"/>
            <a:pathLst>
              <a:path w="1030605" h="1030604">
                <a:moveTo>
                  <a:pt x="0" y="515112"/>
                </a:moveTo>
                <a:lnTo>
                  <a:pt x="2105" y="468227"/>
                </a:lnTo>
                <a:lnTo>
                  <a:pt x="8299" y="422522"/>
                </a:lnTo>
                <a:lnTo>
                  <a:pt x="18400" y="378177"/>
                </a:lnTo>
                <a:lnTo>
                  <a:pt x="32226" y="335376"/>
                </a:lnTo>
                <a:lnTo>
                  <a:pt x="49595" y="294299"/>
                </a:lnTo>
                <a:lnTo>
                  <a:pt x="70326" y="255128"/>
                </a:lnTo>
                <a:lnTo>
                  <a:pt x="94237" y="218046"/>
                </a:lnTo>
                <a:lnTo>
                  <a:pt x="121146" y="183235"/>
                </a:lnTo>
                <a:lnTo>
                  <a:pt x="150871" y="150876"/>
                </a:lnTo>
                <a:lnTo>
                  <a:pt x="183230" y="121150"/>
                </a:lnTo>
                <a:lnTo>
                  <a:pt x="218041" y="94241"/>
                </a:lnTo>
                <a:lnTo>
                  <a:pt x="255123" y="70329"/>
                </a:lnTo>
                <a:lnTo>
                  <a:pt x="294293" y="49597"/>
                </a:lnTo>
                <a:lnTo>
                  <a:pt x="335371" y="32227"/>
                </a:lnTo>
                <a:lnTo>
                  <a:pt x="378173" y="18400"/>
                </a:lnTo>
                <a:lnTo>
                  <a:pt x="422518" y="8299"/>
                </a:lnTo>
                <a:lnTo>
                  <a:pt x="468225" y="2105"/>
                </a:lnTo>
                <a:lnTo>
                  <a:pt x="515112" y="0"/>
                </a:lnTo>
                <a:lnTo>
                  <a:pt x="561996" y="2105"/>
                </a:lnTo>
                <a:lnTo>
                  <a:pt x="607701" y="8299"/>
                </a:lnTo>
                <a:lnTo>
                  <a:pt x="652046" y="18400"/>
                </a:lnTo>
                <a:lnTo>
                  <a:pt x="694847" y="32227"/>
                </a:lnTo>
                <a:lnTo>
                  <a:pt x="735924" y="49597"/>
                </a:lnTo>
                <a:lnTo>
                  <a:pt x="775095" y="70329"/>
                </a:lnTo>
                <a:lnTo>
                  <a:pt x="812177" y="94241"/>
                </a:lnTo>
                <a:lnTo>
                  <a:pt x="846988" y="121150"/>
                </a:lnTo>
                <a:lnTo>
                  <a:pt x="879347" y="150876"/>
                </a:lnTo>
                <a:lnTo>
                  <a:pt x="909073" y="183235"/>
                </a:lnTo>
                <a:lnTo>
                  <a:pt x="935982" y="218046"/>
                </a:lnTo>
                <a:lnTo>
                  <a:pt x="959894" y="255128"/>
                </a:lnTo>
                <a:lnTo>
                  <a:pt x="980626" y="294299"/>
                </a:lnTo>
                <a:lnTo>
                  <a:pt x="997996" y="335376"/>
                </a:lnTo>
                <a:lnTo>
                  <a:pt x="1011823" y="378177"/>
                </a:lnTo>
                <a:lnTo>
                  <a:pt x="1021924" y="422522"/>
                </a:lnTo>
                <a:lnTo>
                  <a:pt x="1028118" y="468227"/>
                </a:lnTo>
                <a:lnTo>
                  <a:pt x="1030223" y="515112"/>
                </a:lnTo>
                <a:lnTo>
                  <a:pt x="1028118" y="561996"/>
                </a:lnTo>
                <a:lnTo>
                  <a:pt x="1021924" y="607701"/>
                </a:lnTo>
                <a:lnTo>
                  <a:pt x="1011823" y="652046"/>
                </a:lnTo>
                <a:lnTo>
                  <a:pt x="997996" y="694847"/>
                </a:lnTo>
                <a:lnTo>
                  <a:pt x="980626" y="735924"/>
                </a:lnTo>
                <a:lnTo>
                  <a:pt x="959894" y="775095"/>
                </a:lnTo>
                <a:lnTo>
                  <a:pt x="935982" y="812177"/>
                </a:lnTo>
                <a:lnTo>
                  <a:pt x="909073" y="846988"/>
                </a:lnTo>
                <a:lnTo>
                  <a:pt x="879347" y="879348"/>
                </a:lnTo>
                <a:lnTo>
                  <a:pt x="846988" y="909073"/>
                </a:lnTo>
                <a:lnTo>
                  <a:pt x="812177" y="935982"/>
                </a:lnTo>
                <a:lnTo>
                  <a:pt x="775095" y="959894"/>
                </a:lnTo>
                <a:lnTo>
                  <a:pt x="735924" y="980626"/>
                </a:lnTo>
                <a:lnTo>
                  <a:pt x="694847" y="997996"/>
                </a:lnTo>
                <a:lnTo>
                  <a:pt x="652046" y="1011823"/>
                </a:lnTo>
                <a:lnTo>
                  <a:pt x="607701" y="1021924"/>
                </a:lnTo>
                <a:lnTo>
                  <a:pt x="561996" y="1028118"/>
                </a:lnTo>
                <a:lnTo>
                  <a:pt x="515112" y="1030224"/>
                </a:lnTo>
                <a:lnTo>
                  <a:pt x="468225" y="1028118"/>
                </a:lnTo>
                <a:lnTo>
                  <a:pt x="422518" y="1021924"/>
                </a:lnTo>
                <a:lnTo>
                  <a:pt x="378173" y="1011823"/>
                </a:lnTo>
                <a:lnTo>
                  <a:pt x="335371" y="997996"/>
                </a:lnTo>
                <a:lnTo>
                  <a:pt x="294293" y="980626"/>
                </a:lnTo>
                <a:lnTo>
                  <a:pt x="255123" y="959894"/>
                </a:lnTo>
                <a:lnTo>
                  <a:pt x="218041" y="935982"/>
                </a:lnTo>
                <a:lnTo>
                  <a:pt x="183230" y="909073"/>
                </a:lnTo>
                <a:lnTo>
                  <a:pt x="150871" y="879348"/>
                </a:lnTo>
                <a:lnTo>
                  <a:pt x="121146" y="846988"/>
                </a:lnTo>
                <a:lnTo>
                  <a:pt x="94237" y="812177"/>
                </a:lnTo>
                <a:lnTo>
                  <a:pt x="70326" y="775095"/>
                </a:lnTo>
                <a:lnTo>
                  <a:pt x="49595" y="735924"/>
                </a:lnTo>
                <a:lnTo>
                  <a:pt x="32226" y="694847"/>
                </a:lnTo>
                <a:lnTo>
                  <a:pt x="18400" y="652046"/>
                </a:lnTo>
                <a:lnTo>
                  <a:pt x="8299" y="607701"/>
                </a:lnTo>
                <a:lnTo>
                  <a:pt x="2105" y="561996"/>
                </a:lnTo>
                <a:lnTo>
                  <a:pt x="0" y="515112"/>
                </a:lnTo>
                <a:close/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894319" y="2103120"/>
            <a:ext cx="533400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57655" y="4465320"/>
            <a:ext cx="545592" cy="4998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986877" y="4548035"/>
            <a:ext cx="435051" cy="433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696200" y="4218432"/>
            <a:ext cx="1030605" cy="1030605"/>
          </a:xfrm>
          <a:custGeom>
            <a:avLst/>
            <a:gdLst/>
            <a:ahLst/>
            <a:cxnLst/>
            <a:rect l="l" t="t" r="r" b="b"/>
            <a:pathLst>
              <a:path w="1030604" h="1030604">
                <a:moveTo>
                  <a:pt x="515111" y="0"/>
                </a:moveTo>
                <a:lnTo>
                  <a:pt x="468227" y="2105"/>
                </a:lnTo>
                <a:lnTo>
                  <a:pt x="422522" y="8299"/>
                </a:lnTo>
                <a:lnTo>
                  <a:pt x="378177" y="18400"/>
                </a:lnTo>
                <a:lnTo>
                  <a:pt x="335376" y="32227"/>
                </a:lnTo>
                <a:lnTo>
                  <a:pt x="294299" y="49597"/>
                </a:lnTo>
                <a:lnTo>
                  <a:pt x="255128" y="70329"/>
                </a:lnTo>
                <a:lnTo>
                  <a:pt x="218046" y="94241"/>
                </a:lnTo>
                <a:lnTo>
                  <a:pt x="183235" y="121150"/>
                </a:lnTo>
                <a:lnTo>
                  <a:pt x="150876" y="150876"/>
                </a:lnTo>
                <a:lnTo>
                  <a:pt x="121150" y="183235"/>
                </a:lnTo>
                <a:lnTo>
                  <a:pt x="94241" y="218046"/>
                </a:lnTo>
                <a:lnTo>
                  <a:pt x="70329" y="255128"/>
                </a:lnTo>
                <a:lnTo>
                  <a:pt x="49597" y="294299"/>
                </a:lnTo>
                <a:lnTo>
                  <a:pt x="32227" y="335376"/>
                </a:lnTo>
                <a:lnTo>
                  <a:pt x="18400" y="378177"/>
                </a:lnTo>
                <a:lnTo>
                  <a:pt x="8299" y="422522"/>
                </a:lnTo>
                <a:lnTo>
                  <a:pt x="2105" y="468227"/>
                </a:lnTo>
                <a:lnTo>
                  <a:pt x="0" y="515112"/>
                </a:lnTo>
                <a:lnTo>
                  <a:pt x="2105" y="561996"/>
                </a:lnTo>
                <a:lnTo>
                  <a:pt x="8299" y="607701"/>
                </a:lnTo>
                <a:lnTo>
                  <a:pt x="18400" y="652046"/>
                </a:lnTo>
                <a:lnTo>
                  <a:pt x="32227" y="694847"/>
                </a:lnTo>
                <a:lnTo>
                  <a:pt x="49597" y="735924"/>
                </a:lnTo>
                <a:lnTo>
                  <a:pt x="70329" y="775095"/>
                </a:lnTo>
                <a:lnTo>
                  <a:pt x="94241" y="812177"/>
                </a:lnTo>
                <a:lnTo>
                  <a:pt x="121150" y="846988"/>
                </a:lnTo>
                <a:lnTo>
                  <a:pt x="150875" y="879348"/>
                </a:lnTo>
                <a:lnTo>
                  <a:pt x="183235" y="909073"/>
                </a:lnTo>
                <a:lnTo>
                  <a:pt x="218046" y="935982"/>
                </a:lnTo>
                <a:lnTo>
                  <a:pt x="255128" y="959894"/>
                </a:lnTo>
                <a:lnTo>
                  <a:pt x="294299" y="980626"/>
                </a:lnTo>
                <a:lnTo>
                  <a:pt x="335376" y="997996"/>
                </a:lnTo>
                <a:lnTo>
                  <a:pt x="378177" y="1011823"/>
                </a:lnTo>
                <a:lnTo>
                  <a:pt x="422522" y="1021924"/>
                </a:lnTo>
                <a:lnTo>
                  <a:pt x="468227" y="1028118"/>
                </a:lnTo>
                <a:lnTo>
                  <a:pt x="515111" y="1030224"/>
                </a:lnTo>
                <a:lnTo>
                  <a:pt x="561996" y="1028118"/>
                </a:lnTo>
                <a:lnTo>
                  <a:pt x="607701" y="1021924"/>
                </a:lnTo>
                <a:lnTo>
                  <a:pt x="652046" y="1011823"/>
                </a:lnTo>
                <a:lnTo>
                  <a:pt x="694847" y="997996"/>
                </a:lnTo>
                <a:lnTo>
                  <a:pt x="735924" y="980626"/>
                </a:lnTo>
                <a:lnTo>
                  <a:pt x="775095" y="959894"/>
                </a:lnTo>
                <a:lnTo>
                  <a:pt x="812177" y="935982"/>
                </a:lnTo>
                <a:lnTo>
                  <a:pt x="846988" y="909073"/>
                </a:lnTo>
                <a:lnTo>
                  <a:pt x="879347" y="879348"/>
                </a:lnTo>
                <a:lnTo>
                  <a:pt x="909073" y="846988"/>
                </a:lnTo>
                <a:lnTo>
                  <a:pt x="935982" y="812177"/>
                </a:lnTo>
                <a:lnTo>
                  <a:pt x="959894" y="775095"/>
                </a:lnTo>
                <a:lnTo>
                  <a:pt x="980626" y="735924"/>
                </a:lnTo>
                <a:lnTo>
                  <a:pt x="997996" y="694847"/>
                </a:lnTo>
                <a:lnTo>
                  <a:pt x="1011823" y="652046"/>
                </a:lnTo>
                <a:lnTo>
                  <a:pt x="1021924" y="607701"/>
                </a:lnTo>
                <a:lnTo>
                  <a:pt x="1028118" y="561996"/>
                </a:lnTo>
                <a:lnTo>
                  <a:pt x="1030224" y="515112"/>
                </a:lnTo>
                <a:lnTo>
                  <a:pt x="1028118" y="468227"/>
                </a:lnTo>
                <a:lnTo>
                  <a:pt x="1021924" y="422522"/>
                </a:lnTo>
                <a:lnTo>
                  <a:pt x="1011823" y="378177"/>
                </a:lnTo>
                <a:lnTo>
                  <a:pt x="997996" y="335376"/>
                </a:lnTo>
                <a:lnTo>
                  <a:pt x="980626" y="294299"/>
                </a:lnTo>
                <a:lnTo>
                  <a:pt x="959894" y="255128"/>
                </a:lnTo>
                <a:lnTo>
                  <a:pt x="935982" y="218046"/>
                </a:lnTo>
                <a:lnTo>
                  <a:pt x="909073" y="183235"/>
                </a:lnTo>
                <a:lnTo>
                  <a:pt x="879348" y="150876"/>
                </a:lnTo>
                <a:lnTo>
                  <a:pt x="846988" y="121150"/>
                </a:lnTo>
                <a:lnTo>
                  <a:pt x="812177" y="94241"/>
                </a:lnTo>
                <a:lnTo>
                  <a:pt x="775095" y="70329"/>
                </a:lnTo>
                <a:lnTo>
                  <a:pt x="735924" y="49597"/>
                </a:lnTo>
                <a:lnTo>
                  <a:pt x="694847" y="32227"/>
                </a:lnTo>
                <a:lnTo>
                  <a:pt x="652046" y="18400"/>
                </a:lnTo>
                <a:lnTo>
                  <a:pt x="607701" y="8299"/>
                </a:lnTo>
                <a:lnTo>
                  <a:pt x="561996" y="2105"/>
                </a:lnTo>
                <a:lnTo>
                  <a:pt x="5151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696200" y="4218432"/>
            <a:ext cx="1030605" cy="1030605"/>
          </a:xfrm>
          <a:custGeom>
            <a:avLst/>
            <a:gdLst/>
            <a:ahLst/>
            <a:cxnLst/>
            <a:rect l="l" t="t" r="r" b="b"/>
            <a:pathLst>
              <a:path w="1030604" h="1030604">
                <a:moveTo>
                  <a:pt x="0" y="515112"/>
                </a:moveTo>
                <a:lnTo>
                  <a:pt x="2105" y="468227"/>
                </a:lnTo>
                <a:lnTo>
                  <a:pt x="8299" y="422522"/>
                </a:lnTo>
                <a:lnTo>
                  <a:pt x="18400" y="378177"/>
                </a:lnTo>
                <a:lnTo>
                  <a:pt x="32227" y="335376"/>
                </a:lnTo>
                <a:lnTo>
                  <a:pt x="49597" y="294299"/>
                </a:lnTo>
                <a:lnTo>
                  <a:pt x="70329" y="255128"/>
                </a:lnTo>
                <a:lnTo>
                  <a:pt x="94241" y="218046"/>
                </a:lnTo>
                <a:lnTo>
                  <a:pt x="121150" y="183235"/>
                </a:lnTo>
                <a:lnTo>
                  <a:pt x="150876" y="150876"/>
                </a:lnTo>
                <a:lnTo>
                  <a:pt x="183235" y="121150"/>
                </a:lnTo>
                <a:lnTo>
                  <a:pt x="218046" y="94241"/>
                </a:lnTo>
                <a:lnTo>
                  <a:pt x="255128" y="70329"/>
                </a:lnTo>
                <a:lnTo>
                  <a:pt x="294299" y="49597"/>
                </a:lnTo>
                <a:lnTo>
                  <a:pt x="335376" y="32227"/>
                </a:lnTo>
                <a:lnTo>
                  <a:pt x="378177" y="18400"/>
                </a:lnTo>
                <a:lnTo>
                  <a:pt x="422522" y="8299"/>
                </a:lnTo>
                <a:lnTo>
                  <a:pt x="468227" y="2105"/>
                </a:lnTo>
                <a:lnTo>
                  <a:pt x="515111" y="0"/>
                </a:lnTo>
                <a:lnTo>
                  <a:pt x="561996" y="2105"/>
                </a:lnTo>
                <a:lnTo>
                  <a:pt x="607701" y="8299"/>
                </a:lnTo>
                <a:lnTo>
                  <a:pt x="652046" y="18400"/>
                </a:lnTo>
                <a:lnTo>
                  <a:pt x="694847" y="32227"/>
                </a:lnTo>
                <a:lnTo>
                  <a:pt x="735924" y="49597"/>
                </a:lnTo>
                <a:lnTo>
                  <a:pt x="775095" y="70329"/>
                </a:lnTo>
                <a:lnTo>
                  <a:pt x="812177" y="94241"/>
                </a:lnTo>
                <a:lnTo>
                  <a:pt x="846988" y="121150"/>
                </a:lnTo>
                <a:lnTo>
                  <a:pt x="879348" y="150876"/>
                </a:lnTo>
                <a:lnTo>
                  <a:pt x="909073" y="183235"/>
                </a:lnTo>
                <a:lnTo>
                  <a:pt x="935982" y="218046"/>
                </a:lnTo>
                <a:lnTo>
                  <a:pt x="959894" y="255128"/>
                </a:lnTo>
                <a:lnTo>
                  <a:pt x="980626" y="294299"/>
                </a:lnTo>
                <a:lnTo>
                  <a:pt x="997996" y="335376"/>
                </a:lnTo>
                <a:lnTo>
                  <a:pt x="1011823" y="378177"/>
                </a:lnTo>
                <a:lnTo>
                  <a:pt x="1021924" y="422522"/>
                </a:lnTo>
                <a:lnTo>
                  <a:pt x="1028118" y="468227"/>
                </a:lnTo>
                <a:lnTo>
                  <a:pt x="1030224" y="515112"/>
                </a:lnTo>
                <a:lnTo>
                  <a:pt x="1028118" y="561996"/>
                </a:lnTo>
                <a:lnTo>
                  <a:pt x="1021924" y="607701"/>
                </a:lnTo>
                <a:lnTo>
                  <a:pt x="1011823" y="652046"/>
                </a:lnTo>
                <a:lnTo>
                  <a:pt x="997996" y="694847"/>
                </a:lnTo>
                <a:lnTo>
                  <a:pt x="980626" y="735924"/>
                </a:lnTo>
                <a:lnTo>
                  <a:pt x="959894" y="775095"/>
                </a:lnTo>
                <a:lnTo>
                  <a:pt x="935982" y="812177"/>
                </a:lnTo>
                <a:lnTo>
                  <a:pt x="909073" y="846988"/>
                </a:lnTo>
                <a:lnTo>
                  <a:pt x="879347" y="879348"/>
                </a:lnTo>
                <a:lnTo>
                  <a:pt x="846988" y="909073"/>
                </a:lnTo>
                <a:lnTo>
                  <a:pt x="812177" y="935982"/>
                </a:lnTo>
                <a:lnTo>
                  <a:pt x="775095" y="959894"/>
                </a:lnTo>
                <a:lnTo>
                  <a:pt x="735924" y="980626"/>
                </a:lnTo>
                <a:lnTo>
                  <a:pt x="694847" y="997996"/>
                </a:lnTo>
                <a:lnTo>
                  <a:pt x="652046" y="1011823"/>
                </a:lnTo>
                <a:lnTo>
                  <a:pt x="607701" y="1021924"/>
                </a:lnTo>
                <a:lnTo>
                  <a:pt x="561996" y="1028118"/>
                </a:lnTo>
                <a:lnTo>
                  <a:pt x="515111" y="1030224"/>
                </a:lnTo>
                <a:lnTo>
                  <a:pt x="468227" y="1028118"/>
                </a:lnTo>
                <a:lnTo>
                  <a:pt x="422522" y="1021924"/>
                </a:lnTo>
                <a:lnTo>
                  <a:pt x="378177" y="1011823"/>
                </a:lnTo>
                <a:lnTo>
                  <a:pt x="335376" y="997996"/>
                </a:lnTo>
                <a:lnTo>
                  <a:pt x="294299" y="980626"/>
                </a:lnTo>
                <a:lnTo>
                  <a:pt x="255128" y="959894"/>
                </a:lnTo>
                <a:lnTo>
                  <a:pt x="218046" y="935982"/>
                </a:lnTo>
                <a:lnTo>
                  <a:pt x="183235" y="909073"/>
                </a:lnTo>
                <a:lnTo>
                  <a:pt x="150875" y="879348"/>
                </a:lnTo>
                <a:lnTo>
                  <a:pt x="121150" y="846988"/>
                </a:lnTo>
                <a:lnTo>
                  <a:pt x="94241" y="812177"/>
                </a:lnTo>
                <a:lnTo>
                  <a:pt x="70329" y="775095"/>
                </a:lnTo>
                <a:lnTo>
                  <a:pt x="49597" y="735924"/>
                </a:lnTo>
                <a:lnTo>
                  <a:pt x="32227" y="694847"/>
                </a:lnTo>
                <a:lnTo>
                  <a:pt x="18400" y="652046"/>
                </a:lnTo>
                <a:lnTo>
                  <a:pt x="8299" y="607701"/>
                </a:lnTo>
                <a:lnTo>
                  <a:pt x="2105" y="561996"/>
                </a:lnTo>
                <a:lnTo>
                  <a:pt x="0" y="515112"/>
                </a:lnTo>
                <a:close/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031480" y="4483608"/>
            <a:ext cx="362711" cy="5394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429861" y="4557179"/>
            <a:ext cx="435051" cy="433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139184" y="4227576"/>
            <a:ext cx="1030605" cy="1030605"/>
          </a:xfrm>
          <a:custGeom>
            <a:avLst/>
            <a:gdLst/>
            <a:ahLst/>
            <a:cxnLst/>
            <a:rect l="l" t="t" r="r" b="b"/>
            <a:pathLst>
              <a:path w="1030604" h="1030604">
                <a:moveTo>
                  <a:pt x="515112" y="0"/>
                </a:moveTo>
                <a:lnTo>
                  <a:pt x="468227" y="2105"/>
                </a:lnTo>
                <a:lnTo>
                  <a:pt x="422522" y="8299"/>
                </a:lnTo>
                <a:lnTo>
                  <a:pt x="378177" y="18400"/>
                </a:lnTo>
                <a:lnTo>
                  <a:pt x="335376" y="32227"/>
                </a:lnTo>
                <a:lnTo>
                  <a:pt x="294299" y="49597"/>
                </a:lnTo>
                <a:lnTo>
                  <a:pt x="255128" y="70329"/>
                </a:lnTo>
                <a:lnTo>
                  <a:pt x="218046" y="94241"/>
                </a:lnTo>
                <a:lnTo>
                  <a:pt x="183235" y="121150"/>
                </a:lnTo>
                <a:lnTo>
                  <a:pt x="150875" y="150875"/>
                </a:lnTo>
                <a:lnTo>
                  <a:pt x="121150" y="183235"/>
                </a:lnTo>
                <a:lnTo>
                  <a:pt x="94241" y="218046"/>
                </a:lnTo>
                <a:lnTo>
                  <a:pt x="70329" y="255128"/>
                </a:lnTo>
                <a:lnTo>
                  <a:pt x="49597" y="294299"/>
                </a:lnTo>
                <a:lnTo>
                  <a:pt x="32227" y="335376"/>
                </a:lnTo>
                <a:lnTo>
                  <a:pt x="18400" y="378177"/>
                </a:lnTo>
                <a:lnTo>
                  <a:pt x="8299" y="422522"/>
                </a:lnTo>
                <a:lnTo>
                  <a:pt x="2105" y="468227"/>
                </a:lnTo>
                <a:lnTo>
                  <a:pt x="0" y="515112"/>
                </a:lnTo>
                <a:lnTo>
                  <a:pt x="2105" y="561996"/>
                </a:lnTo>
                <a:lnTo>
                  <a:pt x="8299" y="607701"/>
                </a:lnTo>
                <a:lnTo>
                  <a:pt x="18400" y="652046"/>
                </a:lnTo>
                <a:lnTo>
                  <a:pt x="32227" y="694847"/>
                </a:lnTo>
                <a:lnTo>
                  <a:pt x="49597" y="735924"/>
                </a:lnTo>
                <a:lnTo>
                  <a:pt x="70329" y="775095"/>
                </a:lnTo>
                <a:lnTo>
                  <a:pt x="94241" y="812177"/>
                </a:lnTo>
                <a:lnTo>
                  <a:pt x="121150" y="846988"/>
                </a:lnTo>
                <a:lnTo>
                  <a:pt x="150875" y="879348"/>
                </a:lnTo>
                <a:lnTo>
                  <a:pt x="183235" y="909073"/>
                </a:lnTo>
                <a:lnTo>
                  <a:pt x="218046" y="935982"/>
                </a:lnTo>
                <a:lnTo>
                  <a:pt x="255128" y="959894"/>
                </a:lnTo>
                <a:lnTo>
                  <a:pt x="294299" y="980626"/>
                </a:lnTo>
                <a:lnTo>
                  <a:pt x="335376" y="997996"/>
                </a:lnTo>
                <a:lnTo>
                  <a:pt x="378177" y="1011823"/>
                </a:lnTo>
                <a:lnTo>
                  <a:pt x="422522" y="1021924"/>
                </a:lnTo>
                <a:lnTo>
                  <a:pt x="468227" y="1028118"/>
                </a:lnTo>
                <a:lnTo>
                  <a:pt x="515112" y="1030224"/>
                </a:lnTo>
                <a:lnTo>
                  <a:pt x="561996" y="1028118"/>
                </a:lnTo>
                <a:lnTo>
                  <a:pt x="607701" y="1021924"/>
                </a:lnTo>
                <a:lnTo>
                  <a:pt x="652046" y="1011823"/>
                </a:lnTo>
                <a:lnTo>
                  <a:pt x="694847" y="997996"/>
                </a:lnTo>
                <a:lnTo>
                  <a:pt x="735924" y="980626"/>
                </a:lnTo>
                <a:lnTo>
                  <a:pt x="775095" y="959894"/>
                </a:lnTo>
                <a:lnTo>
                  <a:pt x="812177" y="935982"/>
                </a:lnTo>
                <a:lnTo>
                  <a:pt x="846988" y="909073"/>
                </a:lnTo>
                <a:lnTo>
                  <a:pt x="879347" y="879348"/>
                </a:lnTo>
                <a:lnTo>
                  <a:pt x="909073" y="846988"/>
                </a:lnTo>
                <a:lnTo>
                  <a:pt x="935982" y="812177"/>
                </a:lnTo>
                <a:lnTo>
                  <a:pt x="959894" y="775095"/>
                </a:lnTo>
                <a:lnTo>
                  <a:pt x="980626" y="735924"/>
                </a:lnTo>
                <a:lnTo>
                  <a:pt x="997996" y="694847"/>
                </a:lnTo>
                <a:lnTo>
                  <a:pt x="1011823" y="652046"/>
                </a:lnTo>
                <a:lnTo>
                  <a:pt x="1021924" y="607701"/>
                </a:lnTo>
                <a:lnTo>
                  <a:pt x="1028118" y="561996"/>
                </a:lnTo>
                <a:lnTo>
                  <a:pt x="1030224" y="515112"/>
                </a:lnTo>
                <a:lnTo>
                  <a:pt x="1028118" y="468227"/>
                </a:lnTo>
                <a:lnTo>
                  <a:pt x="1021924" y="422522"/>
                </a:lnTo>
                <a:lnTo>
                  <a:pt x="1011823" y="378177"/>
                </a:lnTo>
                <a:lnTo>
                  <a:pt x="997996" y="335376"/>
                </a:lnTo>
                <a:lnTo>
                  <a:pt x="980626" y="294299"/>
                </a:lnTo>
                <a:lnTo>
                  <a:pt x="959894" y="255128"/>
                </a:lnTo>
                <a:lnTo>
                  <a:pt x="935982" y="218046"/>
                </a:lnTo>
                <a:lnTo>
                  <a:pt x="909073" y="183235"/>
                </a:lnTo>
                <a:lnTo>
                  <a:pt x="879348" y="150875"/>
                </a:lnTo>
                <a:lnTo>
                  <a:pt x="846988" y="121150"/>
                </a:lnTo>
                <a:lnTo>
                  <a:pt x="812177" y="94241"/>
                </a:lnTo>
                <a:lnTo>
                  <a:pt x="775095" y="70329"/>
                </a:lnTo>
                <a:lnTo>
                  <a:pt x="735924" y="49597"/>
                </a:lnTo>
                <a:lnTo>
                  <a:pt x="694847" y="32227"/>
                </a:lnTo>
                <a:lnTo>
                  <a:pt x="652046" y="18400"/>
                </a:lnTo>
                <a:lnTo>
                  <a:pt x="607701" y="8299"/>
                </a:lnTo>
                <a:lnTo>
                  <a:pt x="561996" y="2105"/>
                </a:lnTo>
                <a:lnTo>
                  <a:pt x="5151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139184" y="4227576"/>
            <a:ext cx="1030605" cy="1030605"/>
          </a:xfrm>
          <a:custGeom>
            <a:avLst/>
            <a:gdLst/>
            <a:ahLst/>
            <a:cxnLst/>
            <a:rect l="l" t="t" r="r" b="b"/>
            <a:pathLst>
              <a:path w="1030604" h="1030604">
                <a:moveTo>
                  <a:pt x="0" y="515112"/>
                </a:moveTo>
                <a:lnTo>
                  <a:pt x="2105" y="468227"/>
                </a:lnTo>
                <a:lnTo>
                  <a:pt x="8299" y="422522"/>
                </a:lnTo>
                <a:lnTo>
                  <a:pt x="18400" y="378177"/>
                </a:lnTo>
                <a:lnTo>
                  <a:pt x="32227" y="335376"/>
                </a:lnTo>
                <a:lnTo>
                  <a:pt x="49597" y="294299"/>
                </a:lnTo>
                <a:lnTo>
                  <a:pt x="70329" y="255128"/>
                </a:lnTo>
                <a:lnTo>
                  <a:pt x="94241" y="218046"/>
                </a:lnTo>
                <a:lnTo>
                  <a:pt x="121150" y="183235"/>
                </a:lnTo>
                <a:lnTo>
                  <a:pt x="150875" y="150875"/>
                </a:lnTo>
                <a:lnTo>
                  <a:pt x="183235" y="121150"/>
                </a:lnTo>
                <a:lnTo>
                  <a:pt x="218046" y="94241"/>
                </a:lnTo>
                <a:lnTo>
                  <a:pt x="255128" y="70329"/>
                </a:lnTo>
                <a:lnTo>
                  <a:pt x="294299" y="49597"/>
                </a:lnTo>
                <a:lnTo>
                  <a:pt x="335376" y="32227"/>
                </a:lnTo>
                <a:lnTo>
                  <a:pt x="378177" y="18400"/>
                </a:lnTo>
                <a:lnTo>
                  <a:pt x="422522" y="8299"/>
                </a:lnTo>
                <a:lnTo>
                  <a:pt x="468227" y="2105"/>
                </a:lnTo>
                <a:lnTo>
                  <a:pt x="515112" y="0"/>
                </a:lnTo>
                <a:lnTo>
                  <a:pt x="561996" y="2105"/>
                </a:lnTo>
                <a:lnTo>
                  <a:pt x="607701" y="8299"/>
                </a:lnTo>
                <a:lnTo>
                  <a:pt x="652046" y="18400"/>
                </a:lnTo>
                <a:lnTo>
                  <a:pt x="694847" y="32227"/>
                </a:lnTo>
                <a:lnTo>
                  <a:pt x="735924" y="49597"/>
                </a:lnTo>
                <a:lnTo>
                  <a:pt x="775095" y="70329"/>
                </a:lnTo>
                <a:lnTo>
                  <a:pt x="812177" y="94241"/>
                </a:lnTo>
                <a:lnTo>
                  <a:pt x="846988" y="121150"/>
                </a:lnTo>
                <a:lnTo>
                  <a:pt x="879348" y="150875"/>
                </a:lnTo>
                <a:lnTo>
                  <a:pt x="909073" y="183235"/>
                </a:lnTo>
                <a:lnTo>
                  <a:pt x="935982" y="218046"/>
                </a:lnTo>
                <a:lnTo>
                  <a:pt x="959894" y="255128"/>
                </a:lnTo>
                <a:lnTo>
                  <a:pt x="980626" y="294299"/>
                </a:lnTo>
                <a:lnTo>
                  <a:pt x="997996" y="335376"/>
                </a:lnTo>
                <a:lnTo>
                  <a:pt x="1011823" y="378177"/>
                </a:lnTo>
                <a:lnTo>
                  <a:pt x="1021924" y="422522"/>
                </a:lnTo>
                <a:lnTo>
                  <a:pt x="1028118" y="468227"/>
                </a:lnTo>
                <a:lnTo>
                  <a:pt x="1030224" y="515112"/>
                </a:lnTo>
                <a:lnTo>
                  <a:pt x="1028118" y="561996"/>
                </a:lnTo>
                <a:lnTo>
                  <a:pt x="1021924" y="607701"/>
                </a:lnTo>
                <a:lnTo>
                  <a:pt x="1011823" y="652046"/>
                </a:lnTo>
                <a:lnTo>
                  <a:pt x="997996" y="694847"/>
                </a:lnTo>
                <a:lnTo>
                  <a:pt x="980626" y="735924"/>
                </a:lnTo>
                <a:lnTo>
                  <a:pt x="959894" y="775095"/>
                </a:lnTo>
                <a:lnTo>
                  <a:pt x="935982" y="812177"/>
                </a:lnTo>
                <a:lnTo>
                  <a:pt x="909073" y="846988"/>
                </a:lnTo>
                <a:lnTo>
                  <a:pt x="879347" y="879348"/>
                </a:lnTo>
                <a:lnTo>
                  <a:pt x="846988" y="909073"/>
                </a:lnTo>
                <a:lnTo>
                  <a:pt x="812177" y="935982"/>
                </a:lnTo>
                <a:lnTo>
                  <a:pt x="775095" y="959894"/>
                </a:lnTo>
                <a:lnTo>
                  <a:pt x="735924" y="980626"/>
                </a:lnTo>
                <a:lnTo>
                  <a:pt x="694847" y="997996"/>
                </a:lnTo>
                <a:lnTo>
                  <a:pt x="652046" y="1011823"/>
                </a:lnTo>
                <a:lnTo>
                  <a:pt x="607701" y="1021924"/>
                </a:lnTo>
                <a:lnTo>
                  <a:pt x="561996" y="1028118"/>
                </a:lnTo>
                <a:lnTo>
                  <a:pt x="515112" y="1030224"/>
                </a:lnTo>
                <a:lnTo>
                  <a:pt x="468227" y="1028118"/>
                </a:lnTo>
                <a:lnTo>
                  <a:pt x="422522" y="1021924"/>
                </a:lnTo>
                <a:lnTo>
                  <a:pt x="378177" y="1011823"/>
                </a:lnTo>
                <a:lnTo>
                  <a:pt x="335376" y="997996"/>
                </a:lnTo>
                <a:lnTo>
                  <a:pt x="294299" y="980626"/>
                </a:lnTo>
                <a:lnTo>
                  <a:pt x="255128" y="959894"/>
                </a:lnTo>
                <a:lnTo>
                  <a:pt x="218046" y="935982"/>
                </a:lnTo>
                <a:lnTo>
                  <a:pt x="183235" y="909073"/>
                </a:lnTo>
                <a:lnTo>
                  <a:pt x="150875" y="879348"/>
                </a:lnTo>
                <a:lnTo>
                  <a:pt x="121150" y="846988"/>
                </a:lnTo>
                <a:lnTo>
                  <a:pt x="94241" y="812177"/>
                </a:lnTo>
                <a:lnTo>
                  <a:pt x="70329" y="775095"/>
                </a:lnTo>
                <a:lnTo>
                  <a:pt x="49597" y="735924"/>
                </a:lnTo>
                <a:lnTo>
                  <a:pt x="32227" y="694847"/>
                </a:lnTo>
                <a:lnTo>
                  <a:pt x="18400" y="652046"/>
                </a:lnTo>
                <a:lnTo>
                  <a:pt x="8299" y="607701"/>
                </a:lnTo>
                <a:lnTo>
                  <a:pt x="2105" y="561996"/>
                </a:lnTo>
                <a:lnTo>
                  <a:pt x="0" y="515112"/>
                </a:lnTo>
                <a:close/>
              </a:path>
            </a:pathLst>
          </a:custGeom>
          <a:ln w="6350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477511" y="4489703"/>
            <a:ext cx="359663" cy="5394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010783" y="3547364"/>
            <a:ext cx="909319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2065">
              <a:lnSpc>
                <a:spcPct val="100000"/>
              </a:lnSpc>
              <a:spcBef>
                <a:spcPts val="110"/>
              </a:spcBef>
            </a:pPr>
            <a:r>
              <a:rPr sz="900" i="1" dirty="0"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与第三方服务器的通信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108703" y="1548383"/>
            <a:ext cx="1173479" cy="14081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07136"/>
            <a:ext cx="9144000" cy="106680"/>
          </a:xfrm>
          <a:custGeom>
            <a:avLst/>
            <a:gdLst/>
            <a:ahLst/>
            <a:cxnLst/>
            <a:rect l="l" t="t" r="r" b="b"/>
            <a:pathLst>
              <a:path w="9144000" h="106680">
                <a:moveTo>
                  <a:pt x="0" y="106172"/>
                </a:moveTo>
                <a:lnTo>
                  <a:pt x="9144000" y="106172"/>
                </a:lnTo>
                <a:lnTo>
                  <a:pt x="9144000" y="0"/>
                </a:lnTo>
                <a:lnTo>
                  <a:pt x="0" y="0"/>
                </a:lnTo>
                <a:lnTo>
                  <a:pt x="0" y="106172"/>
                </a:lnTo>
                <a:close/>
              </a:path>
            </a:pathLst>
          </a:custGeom>
          <a:solidFill>
            <a:srgbClr val="6983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47189" y="949833"/>
            <a:ext cx="5389880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spc="-10" dirty="0">
                <a:solidFill>
                  <a:srgbClr val="0A314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数据字段由Nayax通过传输数据命令提供给VMC</a:t>
            </a:r>
            <a:endParaRPr sz="135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27251" y="1419225"/>
          <a:ext cx="5533390" cy="263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45"/>
                <a:gridCol w="913765"/>
                <a:gridCol w="1779270"/>
                <a:gridCol w="575310"/>
                <a:gridCol w="1904999"/>
              </a:tblGrid>
              <a:tr h="305434">
                <a:tc gridSpan="5"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信用卡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984AA"/>
                    </a:solidFill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4705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200" b="1" spc="-3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标签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#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L="24955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字段名称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类型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长度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201295">
                        <a:lnSpc>
                          <a:spcPct val="100000"/>
                        </a:lnSpc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字节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描述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EB4E2"/>
                    </a:solidFill>
                  </a:tcPr>
                </a:tc>
              </a:tr>
              <a:tr h="251459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1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卡类型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5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英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1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签证|万事达卡|……。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1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进入模式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5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英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5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滑擦|芯片|NFC|……。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423417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5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垃圾桶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美国信息交换标准代码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6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200" spc="-5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PAN的前6位数字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spc="-1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13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spc="-1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最后4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美国信息交换标准代码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spc="-5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PAN的后4位数字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6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PAN哈希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spc="-1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施魔法于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spc="-1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20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spc="-5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PAN的SHA1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spc="-2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TxnID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spc="-5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英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8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spc="-1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Nayax事务ID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619630" y="4160139"/>
            <a:ext cx="0" cy="276860"/>
          </a:xfrm>
          <a:custGeom>
            <a:avLst/>
            <a:gdLst/>
            <a:ahLst/>
            <a:cxnLst/>
            <a:rect l="l" t="t" r="r" b="b"/>
            <a:pathLst>
              <a:path h="276860">
                <a:moveTo>
                  <a:pt x="0" y="0"/>
                </a:moveTo>
                <a:lnTo>
                  <a:pt x="0" y="27686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50354" y="4160139"/>
            <a:ext cx="0" cy="276860"/>
          </a:xfrm>
          <a:custGeom>
            <a:avLst/>
            <a:gdLst/>
            <a:ahLst/>
            <a:cxnLst/>
            <a:rect l="l" t="t" r="r" b="b"/>
            <a:pathLst>
              <a:path h="276860">
                <a:moveTo>
                  <a:pt x="0" y="0"/>
                </a:moveTo>
                <a:lnTo>
                  <a:pt x="0" y="27686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13280" y="4160139"/>
            <a:ext cx="5543550" cy="12700"/>
          </a:xfrm>
          <a:custGeom>
            <a:avLst/>
            <a:gdLst/>
            <a:ahLst/>
            <a:cxnLst/>
            <a:rect l="l" t="t" r="r" b="b"/>
            <a:pathLst>
              <a:path w="5543550" h="12700">
                <a:moveTo>
                  <a:pt x="0" y="12700"/>
                </a:moveTo>
                <a:lnTo>
                  <a:pt x="5543423" y="12700"/>
                </a:lnTo>
                <a:lnTo>
                  <a:pt x="5543423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13280" y="4417948"/>
            <a:ext cx="5543550" cy="0"/>
          </a:xfrm>
          <a:custGeom>
            <a:avLst/>
            <a:gdLst/>
            <a:ahLst/>
            <a:cxnLst/>
            <a:rect l="l" t="t" r="r" b="b"/>
            <a:pathLst>
              <a:path w="5543550">
                <a:moveTo>
                  <a:pt x="0" y="0"/>
                </a:moveTo>
                <a:lnTo>
                  <a:pt x="5543423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25980" y="4172839"/>
            <a:ext cx="5518150" cy="226060"/>
          </a:xfrm>
          <a:prstGeom prst="rect">
            <a:avLst/>
          </a:prstGeom>
          <a:solidFill>
            <a:srgbClr val="8EB4E2"/>
          </a:solidFill>
        </p:spPr>
        <p:txBody>
          <a:bodyPr vert="horz" wrap="square" lIns="0" tIns="203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sz="1200" b="1" spc="-5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专有卡(MiFare)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628647" y="4496308"/>
          <a:ext cx="5532120" cy="915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45"/>
                <a:gridCol w="1210310"/>
                <a:gridCol w="648334"/>
                <a:gridCol w="862964"/>
                <a:gridCol w="2450465"/>
              </a:tblGrid>
              <a:tr h="29591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3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1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卡类型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5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英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15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专有的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32994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4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1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进入模式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5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英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1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5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无接触的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286257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7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用户识别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5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英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5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4、7或10</a:t>
                      </a:r>
                      <a:r>
                        <a:rPr sz="1200" b="1" spc="-7" baseline="24000" dirty="0">
                          <a:solidFill>
                            <a:srgbClr val="FFC000"/>
                          </a:solidFill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*</a:t>
                      </a:r>
                      <a:endParaRPr sz="1200" baseline="24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15" dirty="0">
                          <a:latin typeface="宋体" panose="02010600030101010101" pitchFamily="2" charset="-122"/>
                          <a:ea typeface="+mj-ea"/>
                          <a:cs typeface="宋体" panose="02010600030101010101" pitchFamily="2" charset="-122"/>
                        </a:rPr>
                        <a:t>全MiFareUID</a:t>
                      </a:r>
                      <a:endParaRPr sz="12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591816" y="1981"/>
            <a:ext cx="3961129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-60" dirty="0"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传输数据表</a:t>
            </a:r>
            <a:endParaRPr sz="4000"/>
          </a:p>
        </p:txBody>
      </p:sp>
      <p:sp>
        <p:nvSpPr>
          <p:cNvPr id="12" name="object 12"/>
          <p:cNvSpPr txBox="1"/>
          <p:nvPr/>
        </p:nvSpPr>
        <p:spPr>
          <a:xfrm>
            <a:off x="686206" y="5735255"/>
            <a:ext cx="5196840" cy="46164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420"/>
              </a:spcBef>
              <a:buSzPct val="156000"/>
              <a:buFont typeface="Arial" panose="020B0604020202020204"/>
              <a:buChar char="•"/>
              <a:tabLst>
                <a:tab pos="299085" algn="l"/>
                <a:tab pos="299720" algn="l"/>
              </a:tabLst>
            </a:pPr>
            <a:r>
              <a:rPr sz="900" b="1" spc="10" dirty="0">
                <a:solidFill>
                  <a:srgbClr val="FFC00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这取决于所使用的MiFare卡的类型。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299085" indent="-287020">
              <a:lnSpc>
                <a:spcPct val="100000"/>
              </a:lnSpc>
              <a:spcBef>
                <a:spcPts val="415"/>
              </a:spcBef>
              <a:buFont typeface="Arial" panose="020B0604020202020204"/>
              <a:buChar char="•"/>
              <a:tabLst>
                <a:tab pos="299085" algn="l"/>
                <a:tab pos="299720" algn="l"/>
              </a:tabLst>
            </a:pPr>
            <a:r>
              <a:rPr sz="1350" spc="-10" dirty="0">
                <a:solidFill>
                  <a:srgbClr val="0A314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点击这里了解关于卡片类型和进入模式标签的更多信息。</a:t>
            </a:r>
            <a:endParaRPr sz="135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17847" y="1575816"/>
            <a:ext cx="685800" cy="4608830"/>
          </a:xfrm>
          <a:custGeom>
            <a:avLst/>
            <a:gdLst/>
            <a:ahLst/>
            <a:cxnLst/>
            <a:rect l="l" t="t" r="r" b="b"/>
            <a:pathLst>
              <a:path w="685800" h="4608830">
                <a:moveTo>
                  <a:pt x="662431" y="0"/>
                </a:moveTo>
                <a:lnTo>
                  <a:pt x="23367" y="0"/>
                </a:lnTo>
                <a:lnTo>
                  <a:pt x="14251" y="1829"/>
                </a:lnTo>
                <a:lnTo>
                  <a:pt x="6826" y="6826"/>
                </a:lnTo>
                <a:lnTo>
                  <a:pt x="1829" y="14251"/>
                </a:lnTo>
                <a:lnTo>
                  <a:pt x="0" y="23368"/>
                </a:lnTo>
                <a:lnTo>
                  <a:pt x="0" y="4585208"/>
                </a:lnTo>
                <a:lnTo>
                  <a:pt x="1829" y="4594302"/>
                </a:lnTo>
                <a:lnTo>
                  <a:pt x="6826" y="4601730"/>
                </a:lnTo>
                <a:lnTo>
                  <a:pt x="14251" y="4606739"/>
                </a:lnTo>
                <a:lnTo>
                  <a:pt x="23367" y="4608576"/>
                </a:lnTo>
                <a:lnTo>
                  <a:pt x="662431" y="4608576"/>
                </a:lnTo>
                <a:lnTo>
                  <a:pt x="671548" y="4606739"/>
                </a:lnTo>
                <a:lnTo>
                  <a:pt x="678973" y="4601730"/>
                </a:lnTo>
                <a:lnTo>
                  <a:pt x="683970" y="4594302"/>
                </a:lnTo>
                <a:lnTo>
                  <a:pt x="685800" y="4585208"/>
                </a:lnTo>
                <a:lnTo>
                  <a:pt x="685800" y="23368"/>
                </a:lnTo>
                <a:lnTo>
                  <a:pt x="683970" y="14251"/>
                </a:lnTo>
                <a:lnTo>
                  <a:pt x="678973" y="6826"/>
                </a:lnTo>
                <a:lnTo>
                  <a:pt x="671548" y="1829"/>
                </a:lnTo>
                <a:lnTo>
                  <a:pt x="66243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025383" y="1557527"/>
            <a:ext cx="533400" cy="741045"/>
          </a:xfrm>
          <a:custGeom>
            <a:avLst/>
            <a:gdLst/>
            <a:ahLst/>
            <a:cxnLst/>
            <a:rect l="l" t="t" r="r" b="b"/>
            <a:pathLst>
              <a:path w="533400" h="741044">
                <a:moveTo>
                  <a:pt x="515239" y="0"/>
                </a:moveTo>
                <a:lnTo>
                  <a:pt x="18161" y="0"/>
                </a:lnTo>
                <a:lnTo>
                  <a:pt x="11090" y="1426"/>
                </a:lnTo>
                <a:lnTo>
                  <a:pt x="5318" y="5318"/>
                </a:lnTo>
                <a:lnTo>
                  <a:pt x="1426" y="11090"/>
                </a:lnTo>
                <a:lnTo>
                  <a:pt x="0" y="18161"/>
                </a:lnTo>
                <a:lnTo>
                  <a:pt x="0" y="722502"/>
                </a:lnTo>
                <a:lnTo>
                  <a:pt x="1426" y="729573"/>
                </a:lnTo>
                <a:lnTo>
                  <a:pt x="5318" y="735345"/>
                </a:lnTo>
                <a:lnTo>
                  <a:pt x="11090" y="739237"/>
                </a:lnTo>
                <a:lnTo>
                  <a:pt x="18161" y="740663"/>
                </a:lnTo>
                <a:lnTo>
                  <a:pt x="515239" y="740663"/>
                </a:lnTo>
                <a:lnTo>
                  <a:pt x="522309" y="739237"/>
                </a:lnTo>
                <a:lnTo>
                  <a:pt x="528081" y="735345"/>
                </a:lnTo>
                <a:lnTo>
                  <a:pt x="531973" y="729573"/>
                </a:lnTo>
                <a:lnTo>
                  <a:pt x="533400" y="722502"/>
                </a:lnTo>
                <a:lnTo>
                  <a:pt x="533400" y="18161"/>
                </a:lnTo>
                <a:lnTo>
                  <a:pt x="531973" y="11090"/>
                </a:lnTo>
                <a:lnTo>
                  <a:pt x="528081" y="5318"/>
                </a:lnTo>
                <a:lnTo>
                  <a:pt x="522309" y="1426"/>
                </a:lnTo>
                <a:lnTo>
                  <a:pt x="5152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040623" y="3108960"/>
            <a:ext cx="576580" cy="3057525"/>
          </a:xfrm>
          <a:custGeom>
            <a:avLst/>
            <a:gdLst/>
            <a:ahLst/>
            <a:cxnLst/>
            <a:rect l="l" t="t" r="r" b="b"/>
            <a:pathLst>
              <a:path w="576579" h="3057525">
                <a:moveTo>
                  <a:pt x="556386" y="0"/>
                </a:moveTo>
                <a:lnTo>
                  <a:pt x="19684" y="0"/>
                </a:lnTo>
                <a:lnTo>
                  <a:pt x="12001" y="1539"/>
                </a:lnTo>
                <a:lnTo>
                  <a:pt x="5746" y="5746"/>
                </a:lnTo>
                <a:lnTo>
                  <a:pt x="1539" y="12001"/>
                </a:lnTo>
                <a:lnTo>
                  <a:pt x="0" y="19685"/>
                </a:lnTo>
                <a:lnTo>
                  <a:pt x="0" y="3037522"/>
                </a:lnTo>
                <a:lnTo>
                  <a:pt x="1539" y="3045158"/>
                </a:lnTo>
                <a:lnTo>
                  <a:pt x="5746" y="3051395"/>
                </a:lnTo>
                <a:lnTo>
                  <a:pt x="12001" y="3055601"/>
                </a:lnTo>
                <a:lnTo>
                  <a:pt x="19684" y="3057144"/>
                </a:lnTo>
                <a:lnTo>
                  <a:pt x="556386" y="3057144"/>
                </a:lnTo>
                <a:lnTo>
                  <a:pt x="564070" y="3055601"/>
                </a:lnTo>
                <a:lnTo>
                  <a:pt x="570325" y="3051395"/>
                </a:lnTo>
                <a:lnTo>
                  <a:pt x="574532" y="3045158"/>
                </a:lnTo>
                <a:lnTo>
                  <a:pt x="576072" y="3037522"/>
                </a:lnTo>
                <a:lnTo>
                  <a:pt x="576072" y="19685"/>
                </a:lnTo>
                <a:lnTo>
                  <a:pt x="574532" y="12001"/>
                </a:lnTo>
                <a:lnTo>
                  <a:pt x="570325" y="5746"/>
                </a:lnTo>
                <a:lnTo>
                  <a:pt x="564070" y="1539"/>
                </a:lnTo>
                <a:lnTo>
                  <a:pt x="55638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6031" y="1551432"/>
            <a:ext cx="646430" cy="4636135"/>
          </a:xfrm>
          <a:custGeom>
            <a:avLst/>
            <a:gdLst/>
            <a:ahLst/>
            <a:cxnLst/>
            <a:rect l="l" t="t" r="r" b="b"/>
            <a:pathLst>
              <a:path w="646430" h="4636135">
                <a:moveTo>
                  <a:pt x="624166" y="0"/>
                </a:moveTo>
                <a:lnTo>
                  <a:pt x="22009" y="0"/>
                </a:lnTo>
                <a:lnTo>
                  <a:pt x="13442" y="1736"/>
                </a:lnTo>
                <a:lnTo>
                  <a:pt x="6446" y="6461"/>
                </a:lnTo>
                <a:lnTo>
                  <a:pt x="1729" y="13448"/>
                </a:lnTo>
                <a:lnTo>
                  <a:pt x="0" y="21970"/>
                </a:lnTo>
                <a:lnTo>
                  <a:pt x="0" y="4613998"/>
                </a:lnTo>
                <a:lnTo>
                  <a:pt x="1729" y="4622565"/>
                </a:lnTo>
                <a:lnTo>
                  <a:pt x="6446" y="4629561"/>
                </a:lnTo>
                <a:lnTo>
                  <a:pt x="13442" y="4634278"/>
                </a:lnTo>
                <a:lnTo>
                  <a:pt x="22009" y="4636008"/>
                </a:lnTo>
                <a:lnTo>
                  <a:pt x="624166" y="4636008"/>
                </a:lnTo>
                <a:lnTo>
                  <a:pt x="632733" y="4634278"/>
                </a:lnTo>
                <a:lnTo>
                  <a:pt x="639729" y="4629561"/>
                </a:lnTo>
                <a:lnTo>
                  <a:pt x="644446" y="4622565"/>
                </a:lnTo>
                <a:lnTo>
                  <a:pt x="646176" y="4613998"/>
                </a:lnTo>
                <a:lnTo>
                  <a:pt x="646176" y="21970"/>
                </a:lnTo>
                <a:lnTo>
                  <a:pt x="644446" y="13448"/>
                </a:lnTo>
                <a:lnTo>
                  <a:pt x="639729" y="6461"/>
                </a:lnTo>
                <a:lnTo>
                  <a:pt x="632733" y="1736"/>
                </a:lnTo>
                <a:lnTo>
                  <a:pt x="62416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3753" y="861440"/>
            <a:ext cx="728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持卡人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信用卡-选举前</a:t>
            </a:r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090927" y="1450847"/>
            <a:ext cx="646430" cy="4721860"/>
          </a:xfrm>
          <a:custGeom>
            <a:avLst/>
            <a:gdLst/>
            <a:ahLst/>
            <a:cxnLst/>
            <a:rect l="l" t="t" r="r" b="b"/>
            <a:pathLst>
              <a:path w="646430" h="4721860">
                <a:moveTo>
                  <a:pt x="624205" y="0"/>
                </a:moveTo>
                <a:lnTo>
                  <a:pt x="21971" y="0"/>
                </a:lnTo>
                <a:lnTo>
                  <a:pt x="13448" y="1736"/>
                </a:lnTo>
                <a:lnTo>
                  <a:pt x="6461" y="6461"/>
                </a:lnTo>
                <a:lnTo>
                  <a:pt x="1736" y="13448"/>
                </a:lnTo>
                <a:lnTo>
                  <a:pt x="0" y="21971"/>
                </a:lnTo>
                <a:lnTo>
                  <a:pt x="0" y="4699330"/>
                </a:lnTo>
                <a:lnTo>
                  <a:pt x="1736" y="4707903"/>
                </a:lnTo>
                <a:lnTo>
                  <a:pt x="6461" y="4714903"/>
                </a:lnTo>
                <a:lnTo>
                  <a:pt x="13448" y="4719622"/>
                </a:lnTo>
                <a:lnTo>
                  <a:pt x="21971" y="4721352"/>
                </a:lnTo>
                <a:lnTo>
                  <a:pt x="624205" y="4721352"/>
                </a:lnTo>
                <a:lnTo>
                  <a:pt x="632727" y="4719622"/>
                </a:lnTo>
                <a:lnTo>
                  <a:pt x="639714" y="4714903"/>
                </a:lnTo>
                <a:lnTo>
                  <a:pt x="644439" y="4707903"/>
                </a:lnTo>
                <a:lnTo>
                  <a:pt x="646176" y="4699330"/>
                </a:lnTo>
                <a:lnTo>
                  <a:pt x="646176" y="21971"/>
                </a:lnTo>
                <a:lnTo>
                  <a:pt x="644439" y="13448"/>
                </a:lnTo>
                <a:lnTo>
                  <a:pt x="639714" y="6461"/>
                </a:lnTo>
                <a:lnTo>
                  <a:pt x="632727" y="1736"/>
                </a:lnTo>
                <a:lnTo>
                  <a:pt x="62420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08303" y="3797808"/>
            <a:ext cx="1310640" cy="673735"/>
          </a:xfrm>
          <a:custGeom>
            <a:avLst/>
            <a:gdLst/>
            <a:ahLst/>
            <a:cxnLst/>
            <a:rect l="l" t="t" r="r" b="b"/>
            <a:pathLst>
              <a:path w="1310639" h="673735">
                <a:moveTo>
                  <a:pt x="973835" y="0"/>
                </a:moveTo>
                <a:lnTo>
                  <a:pt x="973835" y="168402"/>
                </a:lnTo>
                <a:lnTo>
                  <a:pt x="0" y="168402"/>
                </a:lnTo>
                <a:lnTo>
                  <a:pt x="0" y="505206"/>
                </a:lnTo>
                <a:lnTo>
                  <a:pt x="973835" y="505206"/>
                </a:lnTo>
                <a:lnTo>
                  <a:pt x="973835" y="673608"/>
                </a:lnTo>
                <a:lnTo>
                  <a:pt x="1310640" y="336804"/>
                </a:lnTo>
                <a:lnTo>
                  <a:pt x="973835" y="0"/>
                </a:lnTo>
                <a:close/>
              </a:path>
            </a:pathLst>
          </a:custGeom>
          <a:solidFill>
            <a:srgbClr val="6983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0513" y="3964051"/>
            <a:ext cx="915669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抽打插入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21590" algn="ctr">
              <a:lnSpc>
                <a:spcPct val="100000"/>
              </a:lnSpc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卡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3063" y="3343655"/>
            <a:ext cx="1186180" cy="408940"/>
          </a:xfrm>
          <a:custGeom>
            <a:avLst/>
            <a:gdLst/>
            <a:ahLst/>
            <a:cxnLst/>
            <a:rect l="l" t="t" r="r" b="b"/>
            <a:pathLst>
              <a:path w="1186180" h="408939">
                <a:moveTo>
                  <a:pt x="191008" y="0"/>
                </a:moveTo>
                <a:lnTo>
                  <a:pt x="0" y="204216"/>
                </a:lnTo>
                <a:lnTo>
                  <a:pt x="191008" y="408432"/>
                </a:lnTo>
                <a:lnTo>
                  <a:pt x="191008" y="332740"/>
                </a:lnTo>
                <a:lnTo>
                  <a:pt x="1185672" y="332740"/>
                </a:lnTo>
                <a:lnTo>
                  <a:pt x="1185672" y="75692"/>
                </a:lnTo>
                <a:lnTo>
                  <a:pt x="191008" y="75692"/>
                </a:lnTo>
                <a:lnTo>
                  <a:pt x="191008" y="0"/>
                </a:lnTo>
                <a:close/>
              </a:path>
            </a:pathLst>
          </a:custGeom>
          <a:solidFill>
            <a:srgbClr val="6983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96746" y="3445510"/>
            <a:ext cx="70231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提供一张卡片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31007" y="5492496"/>
            <a:ext cx="2749550" cy="387350"/>
          </a:xfrm>
          <a:custGeom>
            <a:avLst/>
            <a:gdLst/>
            <a:ahLst/>
            <a:cxnLst/>
            <a:rect l="l" t="t" r="r" b="b"/>
            <a:pathLst>
              <a:path w="2749550" h="387350">
                <a:moveTo>
                  <a:pt x="193548" y="0"/>
                </a:moveTo>
                <a:lnTo>
                  <a:pt x="0" y="193547"/>
                </a:lnTo>
                <a:lnTo>
                  <a:pt x="193548" y="387095"/>
                </a:lnTo>
                <a:lnTo>
                  <a:pt x="193548" y="290321"/>
                </a:lnTo>
                <a:lnTo>
                  <a:pt x="2749296" y="290321"/>
                </a:lnTo>
                <a:lnTo>
                  <a:pt x="2749296" y="96773"/>
                </a:lnTo>
                <a:lnTo>
                  <a:pt x="193548" y="96773"/>
                </a:lnTo>
                <a:lnTo>
                  <a:pt x="193548" y="0"/>
                </a:lnTo>
                <a:close/>
              </a:path>
            </a:pathLst>
          </a:custGeom>
          <a:solidFill>
            <a:srgbClr val="539C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509009" y="5584342"/>
            <a:ext cx="128968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销售交易响应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2960" y="4724400"/>
            <a:ext cx="1262380" cy="533400"/>
          </a:xfrm>
          <a:custGeom>
            <a:avLst/>
            <a:gdLst/>
            <a:ahLst/>
            <a:cxnLst/>
            <a:rect l="l" t="t" r="r" b="b"/>
            <a:pathLst>
              <a:path w="1262380" h="533400">
                <a:moveTo>
                  <a:pt x="240830" y="0"/>
                </a:moveTo>
                <a:lnTo>
                  <a:pt x="0" y="266700"/>
                </a:lnTo>
                <a:lnTo>
                  <a:pt x="240830" y="533400"/>
                </a:lnTo>
                <a:lnTo>
                  <a:pt x="240830" y="434594"/>
                </a:lnTo>
                <a:lnTo>
                  <a:pt x="1261872" y="434594"/>
                </a:lnTo>
                <a:lnTo>
                  <a:pt x="1261872" y="98806"/>
                </a:lnTo>
                <a:lnTo>
                  <a:pt x="240830" y="98806"/>
                </a:lnTo>
                <a:lnTo>
                  <a:pt x="24083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152550" y="4822063"/>
            <a:ext cx="73406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10"/>
              </a:spcBef>
            </a:pPr>
            <a:r>
              <a:rPr sz="900" b="1" i="1" spc="-5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请等待授权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99160" y="2161032"/>
            <a:ext cx="3106420" cy="429895"/>
          </a:xfrm>
          <a:custGeom>
            <a:avLst/>
            <a:gdLst/>
            <a:ahLst/>
            <a:cxnLst/>
            <a:rect l="l" t="t" r="r" b="b"/>
            <a:pathLst>
              <a:path w="3106420" h="429894">
                <a:moveTo>
                  <a:pt x="2891028" y="0"/>
                </a:moveTo>
                <a:lnTo>
                  <a:pt x="2891028" y="107441"/>
                </a:lnTo>
                <a:lnTo>
                  <a:pt x="0" y="107441"/>
                </a:lnTo>
                <a:lnTo>
                  <a:pt x="0" y="322325"/>
                </a:lnTo>
                <a:lnTo>
                  <a:pt x="2891028" y="322325"/>
                </a:lnTo>
                <a:lnTo>
                  <a:pt x="2891028" y="429767"/>
                </a:lnTo>
                <a:lnTo>
                  <a:pt x="3105912" y="214883"/>
                </a:lnTo>
                <a:lnTo>
                  <a:pt x="2891028" y="0"/>
                </a:lnTo>
                <a:close/>
              </a:path>
            </a:pathLst>
          </a:custGeom>
          <a:solidFill>
            <a:srgbClr val="539C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725548" y="2273300"/>
            <a:ext cx="13208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i="1" spc="5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消费者选择产品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70114" y="861186"/>
            <a:ext cx="10299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银行/网关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68111" y="1578863"/>
            <a:ext cx="685800" cy="4608830"/>
          </a:xfrm>
          <a:custGeom>
            <a:avLst/>
            <a:gdLst/>
            <a:ahLst/>
            <a:cxnLst/>
            <a:rect l="l" t="t" r="r" b="b"/>
            <a:pathLst>
              <a:path w="685800" h="4608830">
                <a:moveTo>
                  <a:pt x="662432" y="0"/>
                </a:moveTo>
                <a:lnTo>
                  <a:pt x="23367" y="0"/>
                </a:lnTo>
                <a:lnTo>
                  <a:pt x="14251" y="1829"/>
                </a:lnTo>
                <a:lnTo>
                  <a:pt x="6826" y="6826"/>
                </a:lnTo>
                <a:lnTo>
                  <a:pt x="1829" y="14251"/>
                </a:lnTo>
                <a:lnTo>
                  <a:pt x="0" y="23368"/>
                </a:lnTo>
                <a:lnTo>
                  <a:pt x="0" y="4585208"/>
                </a:lnTo>
                <a:lnTo>
                  <a:pt x="1829" y="4594302"/>
                </a:lnTo>
                <a:lnTo>
                  <a:pt x="6826" y="4601730"/>
                </a:lnTo>
                <a:lnTo>
                  <a:pt x="14251" y="4606739"/>
                </a:lnTo>
                <a:lnTo>
                  <a:pt x="23367" y="4608576"/>
                </a:lnTo>
                <a:lnTo>
                  <a:pt x="662432" y="4608576"/>
                </a:lnTo>
                <a:lnTo>
                  <a:pt x="671548" y="4606739"/>
                </a:lnTo>
                <a:lnTo>
                  <a:pt x="678973" y="4601730"/>
                </a:lnTo>
                <a:lnTo>
                  <a:pt x="683970" y="4594302"/>
                </a:lnTo>
                <a:lnTo>
                  <a:pt x="685800" y="4585208"/>
                </a:lnTo>
                <a:lnTo>
                  <a:pt x="685800" y="23368"/>
                </a:lnTo>
                <a:lnTo>
                  <a:pt x="683970" y="14251"/>
                </a:lnTo>
                <a:lnTo>
                  <a:pt x="678973" y="6826"/>
                </a:lnTo>
                <a:lnTo>
                  <a:pt x="671548" y="1829"/>
                </a:lnTo>
                <a:lnTo>
                  <a:pt x="66243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58368" y="4005110"/>
            <a:ext cx="376466" cy="37334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30936" y="3968521"/>
            <a:ext cx="434339" cy="5013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37616" y="4032503"/>
            <a:ext cx="222503" cy="2194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95934" y="4022852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5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062471" y="2194560"/>
            <a:ext cx="2884931" cy="14066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062471" y="2191511"/>
            <a:ext cx="2784348" cy="14310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169152" y="2249423"/>
            <a:ext cx="2676525" cy="1198245"/>
          </a:xfrm>
          <a:custGeom>
            <a:avLst/>
            <a:gdLst/>
            <a:ahLst/>
            <a:cxnLst/>
            <a:rect l="l" t="t" r="r" b="b"/>
            <a:pathLst>
              <a:path w="2676525" h="1198245">
                <a:moveTo>
                  <a:pt x="0" y="1197864"/>
                </a:moveTo>
                <a:lnTo>
                  <a:pt x="2676144" y="1197864"/>
                </a:lnTo>
                <a:lnTo>
                  <a:pt x="2676144" y="0"/>
                </a:lnTo>
                <a:lnTo>
                  <a:pt x="0" y="0"/>
                </a:lnTo>
                <a:lnTo>
                  <a:pt x="0" y="11978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248780" y="2272995"/>
            <a:ext cx="5187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spc="-10" dirty="0">
                <a:solidFill>
                  <a:srgbClr val="043450"/>
                </a:solidFill>
                <a:uFill>
                  <a:solidFill>
                    <a:srgbClr val="043450"/>
                  </a:solidFill>
                </a:u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图例：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48780" y="2456433"/>
            <a:ext cx="2410460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2880" indent="-170815">
              <a:lnSpc>
                <a:spcPct val="100000"/>
              </a:lnSpc>
              <a:spcBef>
                <a:spcPts val="105"/>
              </a:spcBef>
              <a:buFont typeface="Calibri" panose="020F0502020204030204"/>
              <a:buChar char="-"/>
              <a:tabLst>
                <a:tab pos="182880" algn="l"/>
                <a:tab pos="183515" algn="l"/>
              </a:tabLst>
            </a:pPr>
            <a:r>
              <a:rPr sz="1000" b="1" dirty="0">
                <a:solidFill>
                  <a:srgbClr val="6983A9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显示的消息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82880" indent="-170815">
              <a:lnSpc>
                <a:spcPct val="100000"/>
              </a:lnSpc>
              <a:buFont typeface="Calibri" panose="020F0502020204030204"/>
              <a:buChar char="-"/>
              <a:tabLst>
                <a:tab pos="182880" algn="l"/>
                <a:tab pos="183515" algn="l"/>
              </a:tabLst>
            </a:pPr>
            <a:r>
              <a:rPr sz="1000" b="1" dirty="0">
                <a:solidFill>
                  <a:srgbClr val="FFC00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显示消息+声音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82880" marR="5080" indent="-170815">
              <a:lnSpc>
                <a:spcPct val="100000"/>
              </a:lnSpc>
              <a:buFont typeface="Calibri" panose="020F0502020204030204"/>
              <a:buChar char="-"/>
              <a:tabLst>
                <a:tab pos="182880" algn="l"/>
                <a:tab pos="183515" algn="l"/>
              </a:tabLst>
            </a:pPr>
            <a:r>
              <a:rPr sz="1000" b="1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机器应用程序-AmitAPI（马歇尔协议）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82880" indent="-170815">
              <a:lnSpc>
                <a:spcPct val="100000"/>
              </a:lnSpc>
              <a:buFont typeface="Calibri" panose="020F0502020204030204"/>
              <a:buChar char="-"/>
              <a:tabLst>
                <a:tab pos="182880" algn="l"/>
                <a:tab pos="183515" algn="l"/>
              </a:tabLst>
            </a:pPr>
            <a:r>
              <a:rPr sz="1000" b="1" spc="5" dirty="0">
                <a:solidFill>
                  <a:srgbClr val="539CA9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AmitNayax的服务器AP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182880" indent="-170815">
              <a:lnSpc>
                <a:spcPct val="100000"/>
              </a:lnSpc>
              <a:spcBef>
                <a:spcPts val="5"/>
              </a:spcBef>
              <a:buFont typeface="Calibri" panose="020F0502020204030204"/>
              <a:buChar char="-"/>
              <a:tabLst>
                <a:tab pos="182880" algn="l"/>
                <a:tab pos="183515" algn="l"/>
              </a:tabLst>
            </a:pPr>
            <a:r>
              <a:rPr sz="1000" b="1" dirty="0">
                <a:solidFill>
                  <a:srgbClr val="E36C09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Nayax的服务器-银行/网关API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60473" y="3920490"/>
            <a:ext cx="335280" cy="48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0955" algn="just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读卡数据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90114" y="877315"/>
            <a:ext cx="450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波士特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87521" y="881888"/>
            <a:ext cx="1330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机器应用程序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77941" y="861440"/>
            <a:ext cx="948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Nayax服务器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788920" y="5050535"/>
            <a:ext cx="2727960" cy="408940"/>
          </a:xfrm>
          <a:custGeom>
            <a:avLst/>
            <a:gdLst/>
            <a:ahLst/>
            <a:cxnLst/>
            <a:rect l="l" t="t" r="r" b="b"/>
            <a:pathLst>
              <a:path w="2727960" h="408939">
                <a:moveTo>
                  <a:pt x="2535047" y="0"/>
                </a:moveTo>
                <a:lnTo>
                  <a:pt x="2535047" y="102107"/>
                </a:lnTo>
                <a:lnTo>
                  <a:pt x="0" y="102107"/>
                </a:lnTo>
                <a:lnTo>
                  <a:pt x="0" y="306323"/>
                </a:lnTo>
                <a:lnTo>
                  <a:pt x="2535047" y="306323"/>
                </a:lnTo>
                <a:lnTo>
                  <a:pt x="2535047" y="408431"/>
                </a:lnTo>
                <a:lnTo>
                  <a:pt x="2727960" y="204215"/>
                </a:lnTo>
                <a:lnTo>
                  <a:pt x="2535047" y="0"/>
                </a:lnTo>
                <a:close/>
              </a:path>
            </a:pathLst>
          </a:custGeom>
          <a:solidFill>
            <a:srgbClr val="539C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492753" y="5153025"/>
            <a:ext cx="122364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销售交易请求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769864" y="5486400"/>
            <a:ext cx="2164080" cy="390525"/>
          </a:xfrm>
          <a:custGeom>
            <a:avLst/>
            <a:gdLst/>
            <a:ahLst/>
            <a:cxnLst/>
            <a:rect l="l" t="t" r="r" b="b"/>
            <a:pathLst>
              <a:path w="2164079" h="390525">
                <a:moveTo>
                  <a:pt x="195072" y="0"/>
                </a:moveTo>
                <a:lnTo>
                  <a:pt x="0" y="195072"/>
                </a:lnTo>
                <a:lnTo>
                  <a:pt x="195072" y="390144"/>
                </a:lnTo>
                <a:lnTo>
                  <a:pt x="195072" y="292608"/>
                </a:lnTo>
                <a:lnTo>
                  <a:pt x="2164080" y="292608"/>
                </a:lnTo>
                <a:lnTo>
                  <a:pt x="2164080" y="97536"/>
                </a:lnTo>
                <a:lnTo>
                  <a:pt x="195072" y="97536"/>
                </a:lnTo>
                <a:lnTo>
                  <a:pt x="195072" y="0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257290" y="5580075"/>
            <a:ext cx="1289050" cy="1651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销售交易响应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879591" y="5102352"/>
            <a:ext cx="2146300" cy="408940"/>
          </a:xfrm>
          <a:custGeom>
            <a:avLst/>
            <a:gdLst/>
            <a:ahLst/>
            <a:cxnLst/>
            <a:rect l="l" t="t" r="r" b="b"/>
            <a:pathLst>
              <a:path w="2146300" h="408939">
                <a:moveTo>
                  <a:pt x="1952879" y="0"/>
                </a:moveTo>
                <a:lnTo>
                  <a:pt x="1952879" y="102108"/>
                </a:lnTo>
                <a:lnTo>
                  <a:pt x="0" y="102108"/>
                </a:lnTo>
                <a:lnTo>
                  <a:pt x="0" y="306324"/>
                </a:lnTo>
                <a:lnTo>
                  <a:pt x="1952879" y="306324"/>
                </a:lnTo>
                <a:lnTo>
                  <a:pt x="1952879" y="408432"/>
                </a:lnTo>
                <a:lnTo>
                  <a:pt x="2145791" y="204216"/>
                </a:lnTo>
                <a:lnTo>
                  <a:pt x="1952879" y="0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294882" y="5205729"/>
            <a:ext cx="122364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销售交易请求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621279" y="1648967"/>
            <a:ext cx="1402080" cy="567055"/>
          </a:xfrm>
          <a:custGeom>
            <a:avLst/>
            <a:gdLst/>
            <a:ahLst/>
            <a:cxnLst/>
            <a:rect l="l" t="t" r="r" b="b"/>
            <a:pathLst>
              <a:path w="1402079" h="567055">
                <a:moveTo>
                  <a:pt x="265175" y="0"/>
                </a:moveTo>
                <a:lnTo>
                  <a:pt x="0" y="283464"/>
                </a:lnTo>
                <a:lnTo>
                  <a:pt x="265175" y="566928"/>
                </a:lnTo>
                <a:lnTo>
                  <a:pt x="265175" y="461899"/>
                </a:lnTo>
                <a:lnTo>
                  <a:pt x="1402080" y="461899"/>
                </a:lnTo>
                <a:lnTo>
                  <a:pt x="1402080" y="105029"/>
                </a:lnTo>
                <a:lnTo>
                  <a:pt x="265175" y="105029"/>
                </a:lnTo>
                <a:lnTo>
                  <a:pt x="265175" y="0"/>
                </a:lnTo>
                <a:close/>
              </a:path>
            </a:pathLst>
          </a:custGeom>
          <a:solidFill>
            <a:srgbClr val="0434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967989" y="1762505"/>
            <a:ext cx="87312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110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马歇尔阅读器启用（14小时，01小时）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679192" y="2673095"/>
            <a:ext cx="1435735" cy="1091565"/>
          </a:xfrm>
          <a:custGeom>
            <a:avLst/>
            <a:gdLst/>
            <a:ahLst/>
            <a:cxnLst/>
            <a:rect l="l" t="t" r="r" b="b"/>
            <a:pathLst>
              <a:path w="1435735" h="1091564">
                <a:moveTo>
                  <a:pt x="510285" y="0"/>
                </a:moveTo>
                <a:lnTo>
                  <a:pt x="0" y="545591"/>
                </a:lnTo>
                <a:lnTo>
                  <a:pt x="510285" y="1091183"/>
                </a:lnTo>
                <a:lnTo>
                  <a:pt x="510285" y="889000"/>
                </a:lnTo>
                <a:lnTo>
                  <a:pt x="1435608" y="889000"/>
                </a:lnTo>
                <a:lnTo>
                  <a:pt x="1435608" y="202183"/>
                </a:lnTo>
                <a:lnTo>
                  <a:pt x="510285" y="202183"/>
                </a:lnTo>
                <a:lnTo>
                  <a:pt x="510285" y="0"/>
                </a:lnTo>
                <a:close/>
              </a:path>
            </a:pathLst>
          </a:custGeom>
          <a:solidFill>
            <a:srgbClr val="0434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2983738" y="2911221"/>
            <a:ext cx="112903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10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马歇尔车辆请求（13小时，00小时，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marL="58420" marR="30480" indent="-3175" algn="ctr">
              <a:lnSpc>
                <a:spcPct val="100000"/>
              </a:lnSpc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产品价格、产品/服务代码）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529839" y="5120678"/>
            <a:ext cx="397763" cy="3733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511551" y="5084064"/>
            <a:ext cx="434339" cy="498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609088" y="5148071"/>
            <a:ext cx="243839" cy="21945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679319" y="5138673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7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678423" y="5163349"/>
            <a:ext cx="376466" cy="37334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650991" y="5126735"/>
            <a:ext cx="434339" cy="49834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757671" y="5190744"/>
            <a:ext cx="222503" cy="2194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5818123" y="5181091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8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0" y="1463103"/>
            <a:ext cx="1150683" cy="124212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44424" y="1770888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4" y="0"/>
                </a:moveTo>
                <a:lnTo>
                  <a:pt x="147992" y="5071"/>
                </a:lnTo>
                <a:lnTo>
                  <a:pt x="107574" y="19518"/>
                </a:lnTo>
                <a:lnTo>
                  <a:pt x="71920" y="42187"/>
                </a:lnTo>
                <a:lnTo>
                  <a:pt x="42183" y="71925"/>
                </a:lnTo>
                <a:lnTo>
                  <a:pt x="19516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6" y="276468"/>
                </a:lnTo>
                <a:lnTo>
                  <a:pt x="42183" y="312122"/>
                </a:lnTo>
                <a:lnTo>
                  <a:pt x="71920" y="341860"/>
                </a:lnTo>
                <a:lnTo>
                  <a:pt x="107574" y="364529"/>
                </a:lnTo>
                <a:lnTo>
                  <a:pt x="147992" y="378976"/>
                </a:lnTo>
                <a:lnTo>
                  <a:pt x="192024" y="384048"/>
                </a:lnTo>
                <a:lnTo>
                  <a:pt x="236055" y="378976"/>
                </a:lnTo>
                <a:lnTo>
                  <a:pt x="276473" y="364529"/>
                </a:lnTo>
                <a:lnTo>
                  <a:pt x="312127" y="341860"/>
                </a:lnTo>
                <a:lnTo>
                  <a:pt x="341864" y="312122"/>
                </a:lnTo>
                <a:lnTo>
                  <a:pt x="364531" y="276468"/>
                </a:lnTo>
                <a:lnTo>
                  <a:pt x="378976" y="236051"/>
                </a:lnTo>
                <a:lnTo>
                  <a:pt x="384048" y="192024"/>
                </a:lnTo>
                <a:lnTo>
                  <a:pt x="378976" y="147996"/>
                </a:lnTo>
                <a:lnTo>
                  <a:pt x="364531" y="107579"/>
                </a:lnTo>
                <a:lnTo>
                  <a:pt x="341864" y="71925"/>
                </a:lnTo>
                <a:lnTo>
                  <a:pt x="312127" y="42187"/>
                </a:lnTo>
                <a:lnTo>
                  <a:pt x="276473" y="19518"/>
                </a:lnTo>
                <a:lnTo>
                  <a:pt x="236055" y="5071"/>
                </a:lnTo>
                <a:lnTo>
                  <a:pt x="192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0" y="3017583"/>
            <a:ext cx="1141539" cy="124212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35279" y="3325367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4" y="0"/>
                </a:moveTo>
                <a:lnTo>
                  <a:pt x="147992" y="5071"/>
                </a:lnTo>
                <a:lnTo>
                  <a:pt x="107574" y="19518"/>
                </a:lnTo>
                <a:lnTo>
                  <a:pt x="71920" y="42187"/>
                </a:lnTo>
                <a:lnTo>
                  <a:pt x="42183" y="71925"/>
                </a:lnTo>
                <a:lnTo>
                  <a:pt x="19516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6" y="276468"/>
                </a:lnTo>
                <a:lnTo>
                  <a:pt x="42183" y="312122"/>
                </a:lnTo>
                <a:lnTo>
                  <a:pt x="71920" y="341860"/>
                </a:lnTo>
                <a:lnTo>
                  <a:pt x="107574" y="364529"/>
                </a:lnTo>
                <a:lnTo>
                  <a:pt x="147992" y="378976"/>
                </a:lnTo>
                <a:lnTo>
                  <a:pt x="192024" y="384048"/>
                </a:lnTo>
                <a:lnTo>
                  <a:pt x="236055" y="378976"/>
                </a:lnTo>
                <a:lnTo>
                  <a:pt x="276473" y="364529"/>
                </a:lnTo>
                <a:lnTo>
                  <a:pt x="312127" y="341860"/>
                </a:lnTo>
                <a:lnTo>
                  <a:pt x="341864" y="312122"/>
                </a:lnTo>
                <a:lnTo>
                  <a:pt x="364531" y="276468"/>
                </a:lnTo>
                <a:lnTo>
                  <a:pt x="378976" y="236051"/>
                </a:lnTo>
                <a:lnTo>
                  <a:pt x="384048" y="192024"/>
                </a:lnTo>
                <a:lnTo>
                  <a:pt x="378976" y="147996"/>
                </a:lnTo>
                <a:lnTo>
                  <a:pt x="364531" y="107579"/>
                </a:lnTo>
                <a:lnTo>
                  <a:pt x="341864" y="71925"/>
                </a:lnTo>
                <a:lnTo>
                  <a:pt x="312127" y="42187"/>
                </a:lnTo>
                <a:lnTo>
                  <a:pt x="276473" y="19518"/>
                </a:lnTo>
                <a:lnTo>
                  <a:pt x="236055" y="5071"/>
                </a:lnTo>
                <a:lnTo>
                  <a:pt x="192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0" y="3627183"/>
            <a:ext cx="1141539" cy="124212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35279" y="3934967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4" y="0"/>
                </a:moveTo>
                <a:lnTo>
                  <a:pt x="147992" y="5071"/>
                </a:lnTo>
                <a:lnTo>
                  <a:pt x="107574" y="19518"/>
                </a:lnTo>
                <a:lnTo>
                  <a:pt x="71920" y="42187"/>
                </a:lnTo>
                <a:lnTo>
                  <a:pt x="42183" y="71925"/>
                </a:lnTo>
                <a:lnTo>
                  <a:pt x="19516" y="107579"/>
                </a:lnTo>
                <a:lnTo>
                  <a:pt x="5071" y="147996"/>
                </a:lnTo>
                <a:lnTo>
                  <a:pt x="0" y="192023"/>
                </a:lnTo>
                <a:lnTo>
                  <a:pt x="5071" y="236051"/>
                </a:lnTo>
                <a:lnTo>
                  <a:pt x="19516" y="276468"/>
                </a:lnTo>
                <a:lnTo>
                  <a:pt x="42183" y="312122"/>
                </a:lnTo>
                <a:lnTo>
                  <a:pt x="71920" y="341860"/>
                </a:lnTo>
                <a:lnTo>
                  <a:pt x="107574" y="364529"/>
                </a:lnTo>
                <a:lnTo>
                  <a:pt x="147992" y="378976"/>
                </a:lnTo>
                <a:lnTo>
                  <a:pt x="192024" y="384047"/>
                </a:lnTo>
                <a:lnTo>
                  <a:pt x="236055" y="378976"/>
                </a:lnTo>
                <a:lnTo>
                  <a:pt x="276473" y="364529"/>
                </a:lnTo>
                <a:lnTo>
                  <a:pt x="312127" y="341860"/>
                </a:lnTo>
                <a:lnTo>
                  <a:pt x="341864" y="312122"/>
                </a:lnTo>
                <a:lnTo>
                  <a:pt x="364531" y="276468"/>
                </a:lnTo>
                <a:lnTo>
                  <a:pt x="378976" y="236051"/>
                </a:lnTo>
                <a:lnTo>
                  <a:pt x="384048" y="192023"/>
                </a:lnTo>
                <a:lnTo>
                  <a:pt x="378976" y="147996"/>
                </a:lnTo>
                <a:lnTo>
                  <a:pt x="364531" y="107579"/>
                </a:lnTo>
                <a:lnTo>
                  <a:pt x="341864" y="71925"/>
                </a:lnTo>
                <a:lnTo>
                  <a:pt x="312127" y="42187"/>
                </a:lnTo>
                <a:lnTo>
                  <a:pt x="276473" y="19518"/>
                </a:lnTo>
                <a:lnTo>
                  <a:pt x="236055" y="5071"/>
                </a:lnTo>
                <a:lnTo>
                  <a:pt x="192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0" y="4480559"/>
            <a:ext cx="1144587" cy="124212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38327" y="4788408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3" y="0"/>
                </a:moveTo>
                <a:lnTo>
                  <a:pt x="147992" y="5071"/>
                </a:lnTo>
                <a:lnTo>
                  <a:pt x="107574" y="19518"/>
                </a:lnTo>
                <a:lnTo>
                  <a:pt x="71920" y="42187"/>
                </a:lnTo>
                <a:lnTo>
                  <a:pt x="42183" y="71925"/>
                </a:lnTo>
                <a:lnTo>
                  <a:pt x="19516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6" y="276468"/>
                </a:lnTo>
                <a:lnTo>
                  <a:pt x="42183" y="312122"/>
                </a:lnTo>
                <a:lnTo>
                  <a:pt x="71920" y="341860"/>
                </a:lnTo>
                <a:lnTo>
                  <a:pt x="107574" y="364529"/>
                </a:lnTo>
                <a:lnTo>
                  <a:pt x="147992" y="378976"/>
                </a:lnTo>
                <a:lnTo>
                  <a:pt x="192023" y="384048"/>
                </a:lnTo>
                <a:lnTo>
                  <a:pt x="236055" y="378976"/>
                </a:lnTo>
                <a:lnTo>
                  <a:pt x="276473" y="364529"/>
                </a:lnTo>
                <a:lnTo>
                  <a:pt x="312127" y="341860"/>
                </a:lnTo>
                <a:lnTo>
                  <a:pt x="341864" y="312122"/>
                </a:lnTo>
                <a:lnTo>
                  <a:pt x="364531" y="276468"/>
                </a:lnTo>
                <a:lnTo>
                  <a:pt x="378976" y="236051"/>
                </a:lnTo>
                <a:lnTo>
                  <a:pt x="384048" y="192024"/>
                </a:lnTo>
                <a:lnTo>
                  <a:pt x="378976" y="147996"/>
                </a:lnTo>
                <a:lnTo>
                  <a:pt x="364531" y="107579"/>
                </a:lnTo>
                <a:lnTo>
                  <a:pt x="341864" y="71925"/>
                </a:lnTo>
                <a:lnTo>
                  <a:pt x="312127" y="42187"/>
                </a:lnTo>
                <a:lnTo>
                  <a:pt x="276473" y="19518"/>
                </a:lnTo>
                <a:lnTo>
                  <a:pt x="236055" y="5071"/>
                </a:lnTo>
                <a:lnTo>
                  <a:pt x="1920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901440" y="1795310"/>
            <a:ext cx="376466" cy="37334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874008" y="1758721"/>
            <a:ext cx="434339" cy="50137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980688" y="1822704"/>
            <a:ext cx="222503" cy="2194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4042409" y="1812162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1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3733800" y="844296"/>
            <a:ext cx="1461515" cy="145859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169664" y="1152144"/>
            <a:ext cx="603885" cy="600710"/>
          </a:xfrm>
          <a:custGeom>
            <a:avLst/>
            <a:gdLst/>
            <a:ahLst/>
            <a:cxnLst/>
            <a:rect l="l" t="t" r="r" b="b"/>
            <a:pathLst>
              <a:path w="603885" h="600710">
                <a:moveTo>
                  <a:pt x="301751" y="0"/>
                </a:moveTo>
                <a:lnTo>
                  <a:pt x="252813" y="3928"/>
                </a:lnTo>
                <a:lnTo>
                  <a:pt x="206386" y="15300"/>
                </a:lnTo>
                <a:lnTo>
                  <a:pt x="163092" y="33501"/>
                </a:lnTo>
                <a:lnTo>
                  <a:pt x="123553" y="57912"/>
                </a:lnTo>
                <a:lnTo>
                  <a:pt x="88391" y="87915"/>
                </a:lnTo>
                <a:lnTo>
                  <a:pt x="58228" y="122895"/>
                </a:lnTo>
                <a:lnTo>
                  <a:pt x="33686" y="162233"/>
                </a:lnTo>
                <a:lnTo>
                  <a:pt x="15386" y="205313"/>
                </a:lnTo>
                <a:lnTo>
                  <a:pt x="3950" y="251517"/>
                </a:lnTo>
                <a:lnTo>
                  <a:pt x="0" y="300227"/>
                </a:lnTo>
                <a:lnTo>
                  <a:pt x="3950" y="348938"/>
                </a:lnTo>
                <a:lnTo>
                  <a:pt x="15386" y="395142"/>
                </a:lnTo>
                <a:lnTo>
                  <a:pt x="33686" y="438222"/>
                </a:lnTo>
                <a:lnTo>
                  <a:pt x="58228" y="477560"/>
                </a:lnTo>
                <a:lnTo>
                  <a:pt x="88392" y="512540"/>
                </a:lnTo>
                <a:lnTo>
                  <a:pt x="123553" y="542544"/>
                </a:lnTo>
                <a:lnTo>
                  <a:pt x="163092" y="566954"/>
                </a:lnTo>
                <a:lnTo>
                  <a:pt x="206386" y="585155"/>
                </a:lnTo>
                <a:lnTo>
                  <a:pt x="252813" y="596527"/>
                </a:lnTo>
                <a:lnTo>
                  <a:pt x="301751" y="600455"/>
                </a:lnTo>
                <a:lnTo>
                  <a:pt x="350690" y="596527"/>
                </a:lnTo>
                <a:lnTo>
                  <a:pt x="397117" y="585155"/>
                </a:lnTo>
                <a:lnTo>
                  <a:pt x="440411" y="566954"/>
                </a:lnTo>
                <a:lnTo>
                  <a:pt x="479950" y="542544"/>
                </a:lnTo>
                <a:lnTo>
                  <a:pt x="515111" y="512540"/>
                </a:lnTo>
                <a:lnTo>
                  <a:pt x="545275" y="477560"/>
                </a:lnTo>
                <a:lnTo>
                  <a:pt x="569817" y="438222"/>
                </a:lnTo>
                <a:lnTo>
                  <a:pt x="588117" y="395142"/>
                </a:lnTo>
                <a:lnTo>
                  <a:pt x="599553" y="348938"/>
                </a:lnTo>
                <a:lnTo>
                  <a:pt x="603503" y="300227"/>
                </a:lnTo>
                <a:lnTo>
                  <a:pt x="599553" y="251517"/>
                </a:lnTo>
                <a:lnTo>
                  <a:pt x="588117" y="205313"/>
                </a:lnTo>
                <a:lnTo>
                  <a:pt x="569817" y="162233"/>
                </a:lnTo>
                <a:lnTo>
                  <a:pt x="545275" y="122895"/>
                </a:lnTo>
                <a:lnTo>
                  <a:pt x="515111" y="87915"/>
                </a:lnTo>
                <a:lnTo>
                  <a:pt x="479950" y="57912"/>
                </a:lnTo>
                <a:lnTo>
                  <a:pt x="440411" y="33501"/>
                </a:lnTo>
                <a:lnTo>
                  <a:pt x="397117" y="15300"/>
                </a:lnTo>
                <a:lnTo>
                  <a:pt x="350690" y="3928"/>
                </a:lnTo>
                <a:lnTo>
                  <a:pt x="3017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090159" y="853439"/>
            <a:ext cx="1458594" cy="145859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526023" y="1161288"/>
            <a:ext cx="600710" cy="600710"/>
          </a:xfrm>
          <a:custGeom>
            <a:avLst/>
            <a:gdLst/>
            <a:ahLst/>
            <a:cxnLst/>
            <a:rect l="l" t="t" r="r" b="b"/>
            <a:pathLst>
              <a:path w="600710" h="600710">
                <a:moveTo>
                  <a:pt x="300227" y="0"/>
                </a:moveTo>
                <a:lnTo>
                  <a:pt x="251517" y="3928"/>
                </a:lnTo>
                <a:lnTo>
                  <a:pt x="205313" y="15300"/>
                </a:lnTo>
                <a:lnTo>
                  <a:pt x="162233" y="33501"/>
                </a:lnTo>
                <a:lnTo>
                  <a:pt x="122895" y="57912"/>
                </a:lnTo>
                <a:lnTo>
                  <a:pt x="87915" y="87915"/>
                </a:lnTo>
                <a:lnTo>
                  <a:pt x="57912" y="122895"/>
                </a:lnTo>
                <a:lnTo>
                  <a:pt x="33501" y="162233"/>
                </a:lnTo>
                <a:lnTo>
                  <a:pt x="15300" y="205313"/>
                </a:lnTo>
                <a:lnTo>
                  <a:pt x="3928" y="251517"/>
                </a:lnTo>
                <a:lnTo>
                  <a:pt x="0" y="300227"/>
                </a:lnTo>
                <a:lnTo>
                  <a:pt x="3928" y="348938"/>
                </a:lnTo>
                <a:lnTo>
                  <a:pt x="15300" y="395142"/>
                </a:lnTo>
                <a:lnTo>
                  <a:pt x="33501" y="438222"/>
                </a:lnTo>
                <a:lnTo>
                  <a:pt x="57912" y="477560"/>
                </a:lnTo>
                <a:lnTo>
                  <a:pt x="87915" y="512540"/>
                </a:lnTo>
                <a:lnTo>
                  <a:pt x="122895" y="542544"/>
                </a:lnTo>
                <a:lnTo>
                  <a:pt x="162233" y="566954"/>
                </a:lnTo>
                <a:lnTo>
                  <a:pt x="205313" y="585155"/>
                </a:lnTo>
                <a:lnTo>
                  <a:pt x="251517" y="596527"/>
                </a:lnTo>
                <a:lnTo>
                  <a:pt x="300227" y="600456"/>
                </a:lnTo>
                <a:lnTo>
                  <a:pt x="348938" y="596527"/>
                </a:lnTo>
                <a:lnTo>
                  <a:pt x="395142" y="585155"/>
                </a:lnTo>
                <a:lnTo>
                  <a:pt x="438222" y="566954"/>
                </a:lnTo>
                <a:lnTo>
                  <a:pt x="477560" y="542544"/>
                </a:lnTo>
                <a:lnTo>
                  <a:pt x="512540" y="512540"/>
                </a:lnTo>
                <a:lnTo>
                  <a:pt x="542543" y="477560"/>
                </a:lnTo>
                <a:lnTo>
                  <a:pt x="566954" y="438222"/>
                </a:lnTo>
                <a:lnTo>
                  <a:pt x="585155" y="395142"/>
                </a:lnTo>
                <a:lnTo>
                  <a:pt x="596527" y="348938"/>
                </a:lnTo>
                <a:lnTo>
                  <a:pt x="600455" y="300227"/>
                </a:lnTo>
                <a:lnTo>
                  <a:pt x="596527" y="251517"/>
                </a:lnTo>
                <a:lnTo>
                  <a:pt x="585155" y="205313"/>
                </a:lnTo>
                <a:lnTo>
                  <a:pt x="566954" y="162233"/>
                </a:lnTo>
                <a:lnTo>
                  <a:pt x="542544" y="122895"/>
                </a:lnTo>
                <a:lnTo>
                  <a:pt x="512540" y="87915"/>
                </a:lnTo>
                <a:lnTo>
                  <a:pt x="477560" y="57912"/>
                </a:lnTo>
                <a:lnTo>
                  <a:pt x="438222" y="33501"/>
                </a:lnTo>
                <a:lnTo>
                  <a:pt x="395142" y="15300"/>
                </a:lnTo>
                <a:lnTo>
                  <a:pt x="348938" y="3928"/>
                </a:lnTo>
                <a:lnTo>
                  <a:pt x="3002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559040" y="847344"/>
            <a:ext cx="1461516" cy="14615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994904" y="1155191"/>
            <a:ext cx="603885" cy="603885"/>
          </a:xfrm>
          <a:custGeom>
            <a:avLst/>
            <a:gdLst/>
            <a:ahLst/>
            <a:cxnLst/>
            <a:rect l="l" t="t" r="r" b="b"/>
            <a:pathLst>
              <a:path w="603884" h="603885">
                <a:moveTo>
                  <a:pt x="301751" y="0"/>
                </a:moveTo>
                <a:lnTo>
                  <a:pt x="252813" y="3950"/>
                </a:lnTo>
                <a:lnTo>
                  <a:pt x="206386" y="15386"/>
                </a:lnTo>
                <a:lnTo>
                  <a:pt x="163092" y="33686"/>
                </a:lnTo>
                <a:lnTo>
                  <a:pt x="123553" y="58228"/>
                </a:lnTo>
                <a:lnTo>
                  <a:pt x="88392" y="88392"/>
                </a:lnTo>
                <a:lnTo>
                  <a:pt x="58228" y="123553"/>
                </a:lnTo>
                <a:lnTo>
                  <a:pt x="33686" y="163092"/>
                </a:lnTo>
                <a:lnTo>
                  <a:pt x="15386" y="206386"/>
                </a:lnTo>
                <a:lnTo>
                  <a:pt x="3950" y="252813"/>
                </a:lnTo>
                <a:lnTo>
                  <a:pt x="0" y="301752"/>
                </a:lnTo>
                <a:lnTo>
                  <a:pt x="3950" y="350690"/>
                </a:lnTo>
                <a:lnTo>
                  <a:pt x="15386" y="397117"/>
                </a:lnTo>
                <a:lnTo>
                  <a:pt x="33686" y="440411"/>
                </a:lnTo>
                <a:lnTo>
                  <a:pt x="58228" y="479950"/>
                </a:lnTo>
                <a:lnTo>
                  <a:pt x="88392" y="515112"/>
                </a:lnTo>
                <a:lnTo>
                  <a:pt x="123553" y="545275"/>
                </a:lnTo>
                <a:lnTo>
                  <a:pt x="163092" y="569817"/>
                </a:lnTo>
                <a:lnTo>
                  <a:pt x="206386" y="588117"/>
                </a:lnTo>
                <a:lnTo>
                  <a:pt x="252813" y="599553"/>
                </a:lnTo>
                <a:lnTo>
                  <a:pt x="301751" y="603504"/>
                </a:lnTo>
                <a:lnTo>
                  <a:pt x="350690" y="599553"/>
                </a:lnTo>
                <a:lnTo>
                  <a:pt x="397117" y="588117"/>
                </a:lnTo>
                <a:lnTo>
                  <a:pt x="440411" y="569817"/>
                </a:lnTo>
                <a:lnTo>
                  <a:pt x="479950" y="545275"/>
                </a:lnTo>
                <a:lnTo>
                  <a:pt x="515111" y="515112"/>
                </a:lnTo>
                <a:lnTo>
                  <a:pt x="545275" y="479950"/>
                </a:lnTo>
                <a:lnTo>
                  <a:pt x="569817" y="440411"/>
                </a:lnTo>
                <a:lnTo>
                  <a:pt x="588117" y="397117"/>
                </a:lnTo>
                <a:lnTo>
                  <a:pt x="599553" y="350690"/>
                </a:lnTo>
                <a:lnTo>
                  <a:pt x="603503" y="301752"/>
                </a:lnTo>
                <a:lnTo>
                  <a:pt x="599553" y="252813"/>
                </a:lnTo>
                <a:lnTo>
                  <a:pt x="588117" y="206386"/>
                </a:lnTo>
                <a:lnTo>
                  <a:pt x="569817" y="163092"/>
                </a:lnTo>
                <a:lnTo>
                  <a:pt x="545275" y="123553"/>
                </a:lnTo>
                <a:lnTo>
                  <a:pt x="515111" y="88392"/>
                </a:lnTo>
                <a:lnTo>
                  <a:pt x="479950" y="58228"/>
                </a:lnTo>
                <a:lnTo>
                  <a:pt x="440411" y="33686"/>
                </a:lnTo>
                <a:lnTo>
                  <a:pt x="397117" y="15386"/>
                </a:lnTo>
                <a:lnTo>
                  <a:pt x="350690" y="3950"/>
                </a:lnTo>
                <a:lnTo>
                  <a:pt x="3017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592568" y="4840185"/>
            <a:ext cx="1461516" cy="145859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028431" y="5148071"/>
            <a:ext cx="603885" cy="600710"/>
          </a:xfrm>
          <a:custGeom>
            <a:avLst/>
            <a:gdLst/>
            <a:ahLst/>
            <a:cxnLst/>
            <a:rect l="l" t="t" r="r" b="b"/>
            <a:pathLst>
              <a:path w="603884" h="600710">
                <a:moveTo>
                  <a:pt x="301751" y="0"/>
                </a:moveTo>
                <a:lnTo>
                  <a:pt x="252813" y="3928"/>
                </a:lnTo>
                <a:lnTo>
                  <a:pt x="206386" y="15300"/>
                </a:lnTo>
                <a:lnTo>
                  <a:pt x="163092" y="33501"/>
                </a:lnTo>
                <a:lnTo>
                  <a:pt x="123553" y="57912"/>
                </a:lnTo>
                <a:lnTo>
                  <a:pt x="88392" y="87915"/>
                </a:lnTo>
                <a:lnTo>
                  <a:pt x="58228" y="122895"/>
                </a:lnTo>
                <a:lnTo>
                  <a:pt x="33686" y="162233"/>
                </a:lnTo>
                <a:lnTo>
                  <a:pt x="15386" y="205313"/>
                </a:lnTo>
                <a:lnTo>
                  <a:pt x="3950" y="251517"/>
                </a:lnTo>
                <a:lnTo>
                  <a:pt x="0" y="300227"/>
                </a:lnTo>
                <a:lnTo>
                  <a:pt x="3950" y="348926"/>
                </a:lnTo>
                <a:lnTo>
                  <a:pt x="15386" y="395123"/>
                </a:lnTo>
                <a:lnTo>
                  <a:pt x="33686" y="438199"/>
                </a:lnTo>
                <a:lnTo>
                  <a:pt x="58228" y="477538"/>
                </a:lnTo>
                <a:lnTo>
                  <a:pt x="88392" y="512521"/>
                </a:lnTo>
                <a:lnTo>
                  <a:pt x="123553" y="542529"/>
                </a:lnTo>
                <a:lnTo>
                  <a:pt x="163092" y="566945"/>
                </a:lnTo>
                <a:lnTo>
                  <a:pt x="206386" y="585150"/>
                </a:lnTo>
                <a:lnTo>
                  <a:pt x="252813" y="596526"/>
                </a:lnTo>
                <a:lnTo>
                  <a:pt x="301751" y="600455"/>
                </a:lnTo>
                <a:lnTo>
                  <a:pt x="350690" y="596526"/>
                </a:lnTo>
                <a:lnTo>
                  <a:pt x="397117" y="585150"/>
                </a:lnTo>
                <a:lnTo>
                  <a:pt x="440411" y="566945"/>
                </a:lnTo>
                <a:lnTo>
                  <a:pt x="479950" y="542529"/>
                </a:lnTo>
                <a:lnTo>
                  <a:pt x="515111" y="512521"/>
                </a:lnTo>
                <a:lnTo>
                  <a:pt x="545275" y="477538"/>
                </a:lnTo>
                <a:lnTo>
                  <a:pt x="569817" y="438199"/>
                </a:lnTo>
                <a:lnTo>
                  <a:pt x="588117" y="395123"/>
                </a:lnTo>
                <a:lnTo>
                  <a:pt x="599553" y="348926"/>
                </a:lnTo>
                <a:lnTo>
                  <a:pt x="603503" y="300227"/>
                </a:lnTo>
                <a:lnTo>
                  <a:pt x="599553" y="251517"/>
                </a:lnTo>
                <a:lnTo>
                  <a:pt x="588117" y="205313"/>
                </a:lnTo>
                <a:lnTo>
                  <a:pt x="569817" y="162233"/>
                </a:lnTo>
                <a:lnTo>
                  <a:pt x="545275" y="122895"/>
                </a:lnTo>
                <a:lnTo>
                  <a:pt x="515111" y="87915"/>
                </a:lnTo>
                <a:lnTo>
                  <a:pt x="479950" y="57912"/>
                </a:lnTo>
                <a:lnTo>
                  <a:pt x="440411" y="33501"/>
                </a:lnTo>
                <a:lnTo>
                  <a:pt x="397117" y="15300"/>
                </a:lnTo>
                <a:lnTo>
                  <a:pt x="350690" y="3928"/>
                </a:lnTo>
                <a:lnTo>
                  <a:pt x="3017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312920" y="1319783"/>
            <a:ext cx="326136" cy="28651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724144" y="1295400"/>
            <a:ext cx="210312" cy="31699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8144256" y="1316736"/>
            <a:ext cx="295655" cy="27127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32816" y="1859279"/>
            <a:ext cx="207264" cy="20726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20623" y="3410711"/>
            <a:ext cx="207264" cy="20726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26719" y="4867655"/>
            <a:ext cx="207264" cy="20726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77952" y="4017264"/>
            <a:ext cx="304800" cy="23469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202168" y="5312664"/>
            <a:ext cx="265175" cy="25908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917192" y="4840185"/>
            <a:ext cx="376466" cy="3764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889760" y="4806696"/>
            <a:ext cx="434339" cy="49834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996439" y="4867655"/>
            <a:ext cx="222504" cy="22250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2055114" y="4860493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6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0" y="774700"/>
            <a:ext cx="9144000" cy="127000"/>
          </a:xfrm>
          <a:custGeom>
            <a:avLst/>
            <a:gdLst/>
            <a:ahLst/>
            <a:cxnLst/>
            <a:rect l="l" t="t" r="r" b="b"/>
            <a:pathLst>
              <a:path w="9144000" h="127000">
                <a:moveTo>
                  <a:pt x="0" y="127000"/>
                </a:moveTo>
                <a:lnTo>
                  <a:pt x="9144000" y="127000"/>
                </a:lnTo>
                <a:lnTo>
                  <a:pt x="9144000" y="0"/>
                </a:lnTo>
                <a:lnTo>
                  <a:pt x="0" y="0"/>
                </a:lnTo>
                <a:lnTo>
                  <a:pt x="0" y="127000"/>
                </a:lnTo>
                <a:close/>
              </a:path>
            </a:pathLst>
          </a:custGeom>
          <a:solidFill>
            <a:srgbClr val="6983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157983" y="1152144"/>
            <a:ext cx="515112" cy="61874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79704" y="2240241"/>
            <a:ext cx="376466" cy="3764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52272" y="2206751"/>
            <a:ext cx="434340" cy="49834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758951" y="2267711"/>
            <a:ext cx="222504" cy="22250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817575" y="2259583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2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1905000" y="3416846"/>
            <a:ext cx="376466" cy="37334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1877567" y="3380232"/>
            <a:ext cx="434340" cy="498347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984248" y="3444240"/>
            <a:ext cx="222503" cy="21945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2044445" y="3434334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4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7778495" y="5565647"/>
            <a:ext cx="376466" cy="3764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7751064" y="5529071"/>
            <a:ext cx="434340" cy="50137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7857743" y="5593079"/>
            <a:ext cx="222503" cy="22250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7920608" y="5585561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9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5279135" y="5599176"/>
            <a:ext cx="376466" cy="37334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209032" y="5562600"/>
            <a:ext cx="516636" cy="49834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358384" y="5626608"/>
            <a:ext cx="222503" cy="21945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5375275" y="5617565"/>
            <a:ext cx="1905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10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3962400" y="3060192"/>
            <a:ext cx="376466" cy="37947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3934967" y="3026664"/>
            <a:ext cx="434339" cy="49834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041647" y="3087623"/>
            <a:ext cx="222503" cy="225551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4100576" y="3080385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3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90927" y="1475232"/>
            <a:ext cx="646430" cy="4693920"/>
          </a:xfrm>
          <a:custGeom>
            <a:avLst/>
            <a:gdLst/>
            <a:ahLst/>
            <a:cxnLst/>
            <a:rect l="l" t="t" r="r" b="b"/>
            <a:pathLst>
              <a:path w="646430" h="4693920">
                <a:moveTo>
                  <a:pt x="624205" y="0"/>
                </a:moveTo>
                <a:lnTo>
                  <a:pt x="21971" y="0"/>
                </a:lnTo>
                <a:lnTo>
                  <a:pt x="13448" y="1736"/>
                </a:lnTo>
                <a:lnTo>
                  <a:pt x="6461" y="6461"/>
                </a:lnTo>
                <a:lnTo>
                  <a:pt x="1736" y="13448"/>
                </a:lnTo>
                <a:lnTo>
                  <a:pt x="0" y="21970"/>
                </a:lnTo>
                <a:lnTo>
                  <a:pt x="0" y="4671898"/>
                </a:lnTo>
                <a:lnTo>
                  <a:pt x="1736" y="4680471"/>
                </a:lnTo>
                <a:lnTo>
                  <a:pt x="6461" y="4687471"/>
                </a:lnTo>
                <a:lnTo>
                  <a:pt x="13448" y="4692190"/>
                </a:lnTo>
                <a:lnTo>
                  <a:pt x="21971" y="4693920"/>
                </a:lnTo>
                <a:lnTo>
                  <a:pt x="624205" y="4693920"/>
                </a:lnTo>
                <a:lnTo>
                  <a:pt x="632727" y="4692190"/>
                </a:lnTo>
                <a:lnTo>
                  <a:pt x="639714" y="4687471"/>
                </a:lnTo>
                <a:lnTo>
                  <a:pt x="644439" y="4680471"/>
                </a:lnTo>
                <a:lnTo>
                  <a:pt x="646176" y="4671898"/>
                </a:lnTo>
                <a:lnTo>
                  <a:pt x="646176" y="21970"/>
                </a:lnTo>
                <a:lnTo>
                  <a:pt x="644439" y="13448"/>
                </a:lnTo>
                <a:lnTo>
                  <a:pt x="639714" y="6461"/>
                </a:lnTo>
                <a:lnTo>
                  <a:pt x="632727" y="1736"/>
                </a:lnTo>
                <a:lnTo>
                  <a:pt x="62420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93464" y="1563624"/>
            <a:ext cx="822960" cy="4608830"/>
          </a:xfrm>
          <a:custGeom>
            <a:avLst/>
            <a:gdLst/>
            <a:ahLst/>
            <a:cxnLst/>
            <a:rect l="l" t="t" r="r" b="b"/>
            <a:pathLst>
              <a:path w="822960" h="4608830">
                <a:moveTo>
                  <a:pt x="794893" y="0"/>
                </a:moveTo>
                <a:lnTo>
                  <a:pt x="28066" y="0"/>
                </a:lnTo>
                <a:lnTo>
                  <a:pt x="17144" y="2206"/>
                </a:lnTo>
                <a:lnTo>
                  <a:pt x="8223" y="8223"/>
                </a:lnTo>
                <a:lnTo>
                  <a:pt x="2206" y="17145"/>
                </a:lnTo>
                <a:lnTo>
                  <a:pt x="0" y="28067"/>
                </a:lnTo>
                <a:lnTo>
                  <a:pt x="0" y="4580534"/>
                </a:lnTo>
                <a:lnTo>
                  <a:pt x="2206" y="4591452"/>
                </a:lnTo>
                <a:lnTo>
                  <a:pt x="8223" y="4600365"/>
                </a:lnTo>
                <a:lnTo>
                  <a:pt x="17145" y="4606373"/>
                </a:lnTo>
                <a:lnTo>
                  <a:pt x="28066" y="4608576"/>
                </a:lnTo>
                <a:lnTo>
                  <a:pt x="794893" y="4608576"/>
                </a:lnTo>
                <a:lnTo>
                  <a:pt x="805815" y="4606373"/>
                </a:lnTo>
                <a:lnTo>
                  <a:pt x="814736" y="4600365"/>
                </a:lnTo>
                <a:lnTo>
                  <a:pt x="820753" y="4591452"/>
                </a:lnTo>
                <a:lnTo>
                  <a:pt x="822960" y="4580534"/>
                </a:lnTo>
                <a:lnTo>
                  <a:pt x="822960" y="28066"/>
                </a:lnTo>
                <a:lnTo>
                  <a:pt x="820753" y="17145"/>
                </a:lnTo>
                <a:lnTo>
                  <a:pt x="814736" y="8223"/>
                </a:lnTo>
                <a:lnTo>
                  <a:pt x="805815" y="2206"/>
                </a:lnTo>
                <a:lnTo>
                  <a:pt x="79489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9559" y="1542288"/>
            <a:ext cx="649605" cy="4636135"/>
          </a:xfrm>
          <a:custGeom>
            <a:avLst/>
            <a:gdLst/>
            <a:ahLst/>
            <a:cxnLst/>
            <a:rect l="l" t="t" r="r" b="b"/>
            <a:pathLst>
              <a:path w="649605" h="4636135">
                <a:moveTo>
                  <a:pt x="627100" y="0"/>
                </a:moveTo>
                <a:lnTo>
                  <a:pt x="22123" y="0"/>
                </a:lnTo>
                <a:lnTo>
                  <a:pt x="13512" y="1738"/>
                </a:lnTo>
                <a:lnTo>
                  <a:pt x="6480" y="6477"/>
                </a:lnTo>
                <a:lnTo>
                  <a:pt x="1738" y="13501"/>
                </a:lnTo>
                <a:lnTo>
                  <a:pt x="0" y="22098"/>
                </a:lnTo>
                <a:lnTo>
                  <a:pt x="0" y="4613884"/>
                </a:lnTo>
                <a:lnTo>
                  <a:pt x="1738" y="4622495"/>
                </a:lnTo>
                <a:lnTo>
                  <a:pt x="6480" y="4629527"/>
                </a:lnTo>
                <a:lnTo>
                  <a:pt x="13512" y="4634269"/>
                </a:lnTo>
                <a:lnTo>
                  <a:pt x="22123" y="4636008"/>
                </a:lnTo>
                <a:lnTo>
                  <a:pt x="627100" y="4636008"/>
                </a:lnTo>
                <a:lnTo>
                  <a:pt x="635711" y="4634269"/>
                </a:lnTo>
                <a:lnTo>
                  <a:pt x="642743" y="4629527"/>
                </a:lnTo>
                <a:lnTo>
                  <a:pt x="647485" y="4622495"/>
                </a:lnTo>
                <a:lnTo>
                  <a:pt x="649224" y="4613884"/>
                </a:lnTo>
                <a:lnTo>
                  <a:pt x="649224" y="22098"/>
                </a:lnTo>
                <a:lnTo>
                  <a:pt x="647485" y="13501"/>
                </a:lnTo>
                <a:lnTo>
                  <a:pt x="642743" y="6477"/>
                </a:lnTo>
                <a:lnTo>
                  <a:pt x="635711" y="1738"/>
                </a:lnTo>
                <a:lnTo>
                  <a:pt x="6271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信用卡-选举前</a:t>
            </a:r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2816351" y="2420111"/>
            <a:ext cx="1286510" cy="881380"/>
          </a:xfrm>
          <a:custGeom>
            <a:avLst/>
            <a:gdLst/>
            <a:ahLst/>
            <a:cxnLst/>
            <a:rect l="l" t="t" r="r" b="b"/>
            <a:pathLst>
              <a:path w="1286510" h="881379">
                <a:moveTo>
                  <a:pt x="886713" y="0"/>
                </a:moveTo>
                <a:lnTo>
                  <a:pt x="886713" y="220217"/>
                </a:lnTo>
                <a:lnTo>
                  <a:pt x="0" y="220217"/>
                </a:lnTo>
                <a:lnTo>
                  <a:pt x="0" y="660653"/>
                </a:lnTo>
                <a:lnTo>
                  <a:pt x="886713" y="660653"/>
                </a:lnTo>
                <a:lnTo>
                  <a:pt x="886713" y="880872"/>
                </a:lnTo>
                <a:lnTo>
                  <a:pt x="1286256" y="440436"/>
                </a:lnTo>
                <a:lnTo>
                  <a:pt x="886713" y="0"/>
                </a:lnTo>
                <a:close/>
              </a:path>
            </a:pathLst>
          </a:custGeom>
          <a:solidFill>
            <a:srgbClr val="0434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84373" y="2621356"/>
            <a:ext cx="748030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0480" marR="5080" indent="-18415" algn="just">
              <a:lnSpc>
                <a:spcPct val="100000"/>
              </a:lnSpc>
              <a:spcBef>
                <a:spcPts val="115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马歇尔文德批准（05小时，产品价格）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85288" y="3331464"/>
            <a:ext cx="1362710" cy="567055"/>
          </a:xfrm>
          <a:custGeom>
            <a:avLst/>
            <a:gdLst/>
            <a:ahLst/>
            <a:cxnLst/>
            <a:rect l="l" t="t" r="r" b="b"/>
            <a:pathLst>
              <a:path w="1362710" h="567054">
                <a:moveTo>
                  <a:pt x="265175" y="0"/>
                </a:moveTo>
                <a:lnTo>
                  <a:pt x="0" y="283463"/>
                </a:lnTo>
                <a:lnTo>
                  <a:pt x="265175" y="566928"/>
                </a:lnTo>
                <a:lnTo>
                  <a:pt x="265175" y="461899"/>
                </a:lnTo>
                <a:lnTo>
                  <a:pt x="1362456" y="461899"/>
                </a:lnTo>
                <a:lnTo>
                  <a:pt x="1362456" y="105028"/>
                </a:lnTo>
                <a:lnTo>
                  <a:pt x="265175" y="105028"/>
                </a:lnTo>
                <a:lnTo>
                  <a:pt x="265175" y="0"/>
                </a:lnTo>
                <a:close/>
              </a:path>
            </a:pathLst>
          </a:custGeom>
          <a:solidFill>
            <a:srgbClr val="0434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184905" y="3581527"/>
            <a:ext cx="52832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(13H, 02H)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07735" y="1557527"/>
            <a:ext cx="688975" cy="4608830"/>
          </a:xfrm>
          <a:custGeom>
            <a:avLst/>
            <a:gdLst/>
            <a:ahLst/>
            <a:cxnLst/>
            <a:rect l="l" t="t" r="r" b="b"/>
            <a:pathLst>
              <a:path w="688975" h="4608830">
                <a:moveTo>
                  <a:pt x="665352" y="0"/>
                </a:moveTo>
                <a:lnTo>
                  <a:pt x="23494" y="0"/>
                </a:lnTo>
                <a:lnTo>
                  <a:pt x="14358" y="1849"/>
                </a:lnTo>
                <a:lnTo>
                  <a:pt x="6889" y="6889"/>
                </a:lnTo>
                <a:lnTo>
                  <a:pt x="1849" y="14358"/>
                </a:lnTo>
                <a:lnTo>
                  <a:pt x="0" y="23495"/>
                </a:lnTo>
                <a:lnTo>
                  <a:pt x="0" y="4585106"/>
                </a:lnTo>
                <a:lnTo>
                  <a:pt x="1849" y="4594243"/>
                </a:lnTo>
                <a:lnTo>
                  <a:pt x="6889" y="4601703"/>
                </a:lnTo>
                <a:lnTo>
                  <a:pt x="14358" y="4606732"/>
                </a:lnTo>
                <a:lnTo>
                  <a:pt x="23494" y="4608576"/>
                </a:lnTo>
                <a:lnTo>
                  <a:pt x="665352" y="4608576"/>
                </a:lnTo>
                <a:lnTo>
                  <a:pt x="674489" y="4606732"/>
                </a:lnTo>
                <a:lnTo>
                  <a:pt x="681958" y="4601703"/>
                </a:lnTo>
                <a:lnTo>
                  <a:pt x="686998" y="4594243"/>
                </a:lnTo>
                <a:lnTo>
                  <a:pt x="688848" y="4585106"/>
                </a:lnTo>
                <a:lnTo>
                  <a:pt x="688848" y="23495"/>
                </a:lnTo>
                <a:lnTo>
                  <a:pt x="686998" y="14358"/>
                </a:lnTo>
                <a:lnTo>
                  <a:pt x="681958" y="6889"/>
                </a:lnTo>
                <a:lnTo>
                  <a:pt x="674489" y="1849"/>
                </a:lnTo>
                <a:lnTo>
                  <a:pt x="66535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58640" y="3267455"/>
            <a:ext cx="329958" cy="32689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288535" y="3230879"/>
            <a:ext cx="470141" cy="4549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413503" y="3270503"/>
            <a:ext cx="222504" cy="2194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34967" y="3456419"/>
            <a:ext cx="329958" cy="3299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64864" y="3419855"/>
            <a:ext cx="470141" cy="4549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89832" y="3459479"/>
            <a:ext cx="222503" cy="2225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863850" y="3395598"/>
            <a:ext cx="13601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马歇尔文德成功</a:t>
            </a:r>
            <a:r>
              <a:rPr sz="1950" b="1" spc="-22" baseline="-19000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15</a:t>
            </a:r>
            <a:endParaRPr sz="1950" baseline="-19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053840" y="4611623"/>
            <a:ext cx="329958" cy="32689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983735" y="4575047"/>
            <a:ext cx="470141" cy="4549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108703" y="4614671"/>
            <a:ext cx="222504" cy="2194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127119" y="4605654"/>
            <a:ext cx="1905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18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322064" y="2340864"/>
            <a:ext cx="329958" cy="32689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251959" y="2304300"/>
            <a:ext cx="470141" cy="45185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76928" y="2343911"/>
            <a:ext cx="222504" cy="21945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132326" y="2333370"/>
            <a:ext cx="747395" cy="8362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4765" algn="ctr">
              <a:lnSpc>
                <a:spcPct val="100000"/>
              </a:lnSpc>
              <a:spcBef>
                <a:spcPts val="95"/>
              </a:spcBef>
            </a:pPr>
            <a:r>
              <a:rPr sz="1300" b="1" spc="-1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13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marL="12700" marR="5080" indent="-2540" algn="ctr">
              <a:lnSpc>
                <a:spcPct val="100000"/>
              </a:lnSpc>
              <a:spcBef>
                <a:spcPts val="25"/>
              </a:spcBef>
            </a:pPr>
            <a:r>
              <a:rPr sz="1000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开始提供产品/服务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10961" y="885571"/>
            <a:ext cx="8502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Nayax服务器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676144" y="4440935"/>
            <a:ext cx="1417320" cy="567055"/>
          </a:xfrm>
          <a:custGeom>
            <a:avLst/>
            <a:gdLst/>
            <a:ahLst/>
            <a:cxnLst/>
            <a:rect l="l" t="t" r="r" b="b"/>
            <a:pathLst>
              <a:path w="1417320" h="567054">
                <a:moveTo>
                  <a:pt x="265175" y="0"/>
                </a:moveTo>
                <a:lnTo>
                  <a:pt x="0" y="283463"/>
                </a:lnTo>
                <a:lnTo>
                  <a:pt x="265175" y="566927"/>
                </a:lnTo>
                <a:lnTo>
                  <a:pt x="265175" y="461899"/>
                </a:lnTo>
                <a:lnTo>
                  <a:pt x="1417320" y="461899"/>
                </a:lnTo>
                <a:lnTo>
                  <a:pt x="1417320" y="105028"/>
                </a:lnTo>
                <a:lnTo>
                  <a:pt x="265175" y="105028"/>
                </a:lnTo>
                <a:lnTo>
                  <a:pt x="265175" y="0"/>
                </a:lnTo>
                <a:close/>
              </a:path>
            </a:pathLst>
          </a:custGeom>
          <a:solidFill>
            <a:srgbClr val="0434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806700" y="4554473"/>
            <a:ext cx="130365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08305" marR="5080" indent="-396240">
              <a:lnSpc>
                <a:spcPct val="100000"/>
              </a:lnSpc>
              <a:spcBef>
                <a:spcPts val="110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马歇尔会议完成（13时，04时）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752344" y="4983479"/>
            <a:ext cx="1313815" cy="551815"/>
          </a:xfrm>
          <a:custGeom>
            <a:avLst/>
            <a:gdLst/>
            <a:ahLst/>
            <a:cxnLst/>
            <a:rect l="l" t="t" r="r" b="b"/>
            <a:pathLst>
              <a:path w="1313814" h="551814">
                <a:moveTo>
                  <a:pt x="1063370" y="0"/>
                </a:moveTo>
                <a:lnTo>
                  <a:pt x="1063370" y="137922"/>
                </a:lnTo>
                <a:lnTo>
                  <a:pt x="0" y="137922"/>
                </a:lnTo>
                <a:lnTo>
                  <a:pt x="0" y="413766"/>
                </a:lnTo>
                <a:lnTo>
                  <a:pt x="1063370" y="413766"/>
                </a:lnTo>
                <a:lnTo>
                  <a:pt x="1063370" y="551688"/>
                </a:lnTo>
                <a:lnTo>
                  <a:pt x="1313688" y="275844"/>
                </a:lnTo>
                <a:lnTo>
                  <a:pt x="1063370" y="0"/>
                </a:lnTo>
                <a:close/>
              </a:path>
            </a:pathLst>
          </a:custGeom>
          <a:solidFill>
            <a:srgbClr val="0434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833877" y="5089397"/>
            <a:ext cx="102806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10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马歇尔结束会议（07小时）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529839" y="5157203"/>
            <a:ext cx="329958" cy="3299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459735" y="5120640"/>
            <a:ext cx="470141" cy="4549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584704" y="5160264"/>
            <a:ext cx="222503" cy="2225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2601595" y="5153025"/>
            <a:ext cx="1905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19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6672" y="885571"/>
            <a:ext cx="728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持卡人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779776" y="1475232"/>
            <a:ext cx="1490980" cy="1079500"/>
          </a:xfrm>
          <a:custGeom>
            <a:avLst/>
            <a:gdLst/>
            <a:ahLst/>
            <a:cxnLst/>
            <a:rect l="l" t="t" r="r" b="b"/>
            <a:pathLst>
              <a:path w="1490979" h="1079500">
                <a:moveTo>
                  <a:pt x="1001013" y="0"/>
                </a:moveTo>
                <a:lnTo>
                  <a:pt x="1001013" y="269747"/>
                </a:lnTo>
                <a:lnTo>
                  <a:pt x="0" y="269747"/>
                </a:lnTo>
                <a:lnTo>
                  <a:pt x="0" y="809243"/>
                </a:lnTo>
                <a:lnTo>
                  <a:pt x="1001013" y="809243"/>
                </a:lnTo>
                <a:lnTo>
                  <a:pt x="1001013" y="1078991"/>
                </a:lnTo>
                <a:lnTo>
                  <a:pt x="1490472" y="539495"/>
                </a:lnTo>
                <a:lnTo>
                  <a:pt x="1001013" y="0"/>
                </a:lnTo>
                <a:close/>
              </a:path>
            </a:pathLst>
          </a:custGeom>
          <a:solidFill>
            <a:srgbClr val="0434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929889" y="1707007"/>
            <a:ext cx="942975" cy="4394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传输数据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（卡详细信息，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Com状态，TxnID)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71394" y="2118741"/>
            <a:ext cx="1262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点击这里了解更多详情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96334" y="1761870"/>
            <a:ext cx="6076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1445" marR="5080" indent="-11938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存储卡详细信息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746248" y="4078223"/>
            <a:ext cx="2807335" cy="429895"/>
          </a:xfrm>
          <a:custGeom>
            <a:avLst/>
            <a:gdLst/>
            <a:ahLst/>
            <a:cxnLst/>
            <a:rect l="l" t="t" r="r" b="b"/>
            <a:pathLst>
              <a:path w="2807335" h="429895">
                <a:moveTo>
                  <a:pt x="2592324" y="0"/>
                </a:moveTo>
                <a:lnTo>
                  <a:pt x="2592324" y="107442"/>
                </a:lnTo>
                <a:lnTo>
                  <a:pt x="0" y="107442"/>
                </a:lnTo>
                <a:lnTo>
                  <a:pt x="0" y="322325"/>
                </a:lnTo>
                <a:lnTo>
                  <a:pt x="2592324" y="322325"/>
                </a:lnTo>
                <a:lnTo>
                  <a:pt x="2592324" y="429768"/>
                </a:lnTo>
                <a:lnTo>
                  <a:pt x="2807207" y="214883"/>
                </a:lnTo>
                <a:lnTo>
                  <a:pt x="2592324" y="0"/>
                </a:lnTo>
                <a:close/>
              </a:path>
            </a:pathLst>
          </a:custGeom>
          <a:solidFill>
            <a:srgbClr val="539C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589401" y="4191761"/>
            <a:ext cx="99441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产品被分配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733800" y="844296"/>
            <a:ext cx="1461515" cy="145859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169664" y="1152144"/>
            <a:ext cx="603885" cy="600710"/>
          </a:xfrm>
          <a:custGeom>
            <a:avLst/>
            <a:gdLst/>
            <a:ahLst/>
            <a:cxnLst/>
            <a:rect l="l" t="t" r="r" b="b"/>
            <a:pathLst>
              <a:path w="603885" h="600710">
                <a:moveTo>
                  <a:pt x="301751" y="0"/>
                </a:moveTo>
                <a:lnTo>
                  <a:pt x="252813" y="3928"/>
                </a:lnTo>
                <a:lnTo>
                  <a:pt x="206386" y="15300"/>
                </a:lnTo>
                <a:lnTo>
                  <a:pt x="163092" y="33501"/>
                </a:lnTo>
                <a:lnTo>
                  <a:pt x="123553" y="57912"/>
                </a:lnTo>
                <a:lnTo>
                  <a:pt x="88391" y="87915"/>
                </a:lnTo>
                <a:lnTo>
                  <a:pt x="58228" y="122895"/>
                </a:lnTo>
                <a:lnTo>
                  <a:pt x="33686" y="162233"/>
                </a:lnTo>
                <a:lnTo>
                  <a:pt x="15386" y="205313"/>
                </a:lnTo>
                <a:lnTo>
                  <a:pt x="3950" y="251517"/>
                </a:lnTo>
                <a:lnTo>
                  <a:pt x="0" y="300227"/>
                </a:lnTo>
                <a:lnTo>
                  <a:pt x="3950" y="348938"/>
                </a:lnTo>
                <a:lnTo>
                  <a:pt x="15386" y="395142"/>
                </a:lnTo>
                <a:lnTo>
                  <a:pt x="33686" y="438222"/>
                </a:lnTo>
                <a:lnTo>
                  <a:pt x="58228" y="477560"/>
                </a:lnTo>
                <a:lnTo>
                  <a:pt x="88392" y="512540"/>
                </a:lnTo>
                <a:lnTo>
                  <a:pt x="123553" y="542544"/>
                </a:lnTo>
                <a:lnTo>
                  <a:pt x="163092" y="566954"/>
                </a:lnTo>
                <a:lnTo>
                  <a:pt x="206386" y="585155"/>
                </a:lnTo>
                <a:lnTo>
                  <a:pt x="252813" y="596527"/>
                </a:lnTo>
                <a:lnTo>
                  <a:pt x="301751" y="600455"/>
                </a:lnTo>
                <a:lnTo>
                  <a:pt x="350690" y="596527"/>
                </a:lnTo>
                <a:lnTo>
                  <a:pt x="397117" y="585155"/>
                </a:lnTo>
                <a:lnTo>
                  <a:pt x="440411" y="566954"/>
                </a:lnTo>
                <a:lnTo>
                  <a:pt x="479950" y="542544"/>
                </a:lnTo>
                <a:lnTo>
                  <a:pt x="515111" y="512540"/>
                </a:lnTo>
                <a:lnTo>
                  <a:pt x="545275" y="477560"/>
                </a:lnTo>
                <a:lnTo>
                  <a:pt x="569817" y="438222"/>
                </a:lnTo>
                <a:lnTo>
                  <a:pt x="588117" y="395142"/>
                </a:lnTo>
                <a:lnTo>
                  <a:pt x="599553" y="348938"/>
                </a:lnTo>
                <a:lnTo>
                  <a:pt x="603503" y="300227"/>
                </a:lnTo>
                <a:lnTo>
                  <a:pt x="599553" y="251517"/>
                </a:lnTo>
                <a:lnTo>
                  <a:pt x="588117" y="205313"/>
                </a:lnTo>
                <a:lnTo>
                  <a:pt x="569817" y="162233"/>
                </a:lnTo>
                <a:lnTo>
                  <a:pt x="545275" y="122895"/>
                </a:lnTo>
                <a:lnTo>
                  <a:pt x="515111" y="87915"/>
                </a:lnTo>
                <a:lnTo>
                  <a:pt x="479950" y="57912"/>
                </a:lnTo>
                <a:lnTo>
                  <a:pt x="440411" y="33501"/>
                </a:lnTo>
                <a:lnTo>
                  <a:pt x="397117" y="15300"/>
                </a:lnTo>
                <a:lnTo>
                  <a:pt x="350690" y="3928"/>
                </a:lnTo>
                <a:lnTo>
                  <a:pt x="3017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0" y="3337623"/>
            <a:ext cx="1184211" cy="124212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77952" y="3645408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024" y="0"/>
                </a:moveTo>
                <a:lnTo>
                  <a:pt x="147992" y="5071"/>
                </a:lnTo>
                <a:lnTo>
                  <a:pt x="107574" y="19518"/>
                </a:lnTo>
                <a:lnTo>
                  <a:pt x="71920" y="42187"/>
                </a:lnTo>
                <a:lnTo>
                  <a:pt x="42183" y="71925"/>
                </a:lnTo>
                <a:lnTo>
                  <a:pt x="19516" y="107579"/>
                </a:lnTo>
                <a:lnTo>
                  <a:pt x="5071" y="147996"/>
                </a:lnTo>
                <a:lnTo>
                  <a:pt x="0" y="192024"/>
                </a:lnTo>
                <a:lnTo>
                  <a:pt x="5071" y="236051"/>
                </a:lnTo>
                <a:lnTo>
                  <a:pt x="19516" y="276468"/>
                </a:lnTo>
                <a:lnTo>
                  <a:pt x="42183" y="312122"/>
                </a:lnTo>
                <a:lnTo>
                  <a:pt x="71920" y="341860"/>
                </a:lnTo>
                <a:lnTo>
                  <a:pt x="107574" y="364529"/>
                </a:lnTo>
                <a:lnTo>
                  <a:pt x="147992" y="378976"/>
                </a:lnTo>
                <a:lnTo>
                  <a:pt x="192024" y="384048"/>
                </a:lnTo>
                <a:lnTo>
                  <a:pt x="236055" y="378976"/>
                </a:lnTo>
                <a:lnTo>
                  <a:pt x="276473" y="364529"/>
                </a:lnTo>
                <a:lnTo>
                  <a:pt x="312127" y="341860"/>
                </a:lnTo>
                <a:lnTo>
                  <a:pt x="341864" y="312122"/>
                </a:lnTo>
                <a:lnTo>
                  <a:pt x="364531" y="276468"/>
                </a:lnTo>
                <a:lnTo>
                  <a:pt x="378976" y="236051"/>
                </a:lnTo>
                <a:lnTo>
                  <a:pt x="384048" y="192024"/>
                </a:lnTo>
                <a:lnTo>
                  <a:pt x="378976" y="147996"/>
                </a:lnTo>
                <a:lnTo>
                  <a:pt x="364531" y="107579"/>
                </a:lnTo>
                <a:lnTo>
                  <a:pt x="341864" y="71925"/>
                </a:lnTo>
                <a:lnTo>
                  <a:pt x="312127" y="42187"/>
                </a:lnTo>
                <a:lnTo>
                  <a:pt x="276473" y="19518"/>
                </a:lnTo>
                <a:lnTo>
                  <a:pt x="236055" y="5071"/>
                </a:lnTo>
                <a:lnTo>
                  <a:pt x="1920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117591" y="853439"/>
            <a:ext cx="1461515" cy="145859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553455" y="1161288"/>
            <a:ext cx="603885" cy="600710"/>
          </a:xfrm>
          <a:custGeom>
            <a:avLst/>
            <a:gdLst/>
            <a:ahLst/>
            <a:cxnLst/>
            <a:rect l="l" t="t" r="r" b="b"/>
            <a:pathLst>
              <a:path w="603885" h="600710">
                <a:moveTo>
                  <a:pt x="301752" y="0"/>
                </a:moveTo>
                <a:lnTo>
                  <a:pt x="252813" y="3928"/>
                </a:lnTo>
                <a:lnTo>
                  <a:pt x="206386" y="15300"/>
                </a:lnTo>
                <a:lnTo>
                  <a:pt x="163092" y="33501"/>
                </a:lnTo>
                <a:lnTo>
                  <a:pt x="123553" y="57912"/>
                </a:lnTo>
                <a:lnTo>
                  <a:pt x="88391" y="87915"/>
                </a:lnTo>
                <a:lnTo>
                  <a:pt x="58228" y="122895"/>
                </a:lnTo>
                <a:lnTo>
                  <a:pt x="33686" y="162233"/>
                </a:lnTo>
                <a:lnTo>
                  <a:pt x="15386" y="205313"/>
                </a:lnTo>
                <a:lnTo>
                  <a:pt x="3950" y="251517"/>
                </a:lnTo>
                <a:lnTo>
                  <a:pt x="0" y="300227"/>
                </a:lnTo>
                <a:lnTo>
                  <a:pt x="3950" y="348938"/>
                </a:lnTo>
                <a:lnTo>
                  <a:pt x="15386" y="395142"/>
                </a:lnTo>
                <a:lnTo>
                  <a:pt x="33686" y="438222"/>
                </a:lnTo>
                <a:lnTo>
                  <a:pt x="58228" y="477560"/>
                </a:lnTo>
                <a:lnTo>
                  <a:pt x="88392" y="512540"/>
                </a:lnTo>
                <a:lnTo>
                  <a:pt x="123553" y="542544"/>
                </a:lnTo>
                <a:lnTo>
                  <a:pt x="163092" y="566954"/>
                </a:lnTo>
                <a:lnTo>
                  <a:pt x="206386" y="585155"/>
                </a:lnTo>
                <a:lnTo>
                  <a:pt x="252813" y="596527"/>
                </a:lnTo>
                <a:lnTo>
                  <a:pt x="301752" y="600456"/>
                </a:lnTo>
                <a:lnTo>
                  <a:pt x="350690" y="596527"/>
                </a:lnTo>
                <a:lnTo>
                  <a:pt x="397117" y="585155"/>
                </a:lnTo>
                <a:lnTo>
                  <a:pt x="440411" y="566954"/>
                </a:lnTo>
                <a:lnTo>
                  <a:pt x="479950" y="542544"/>
                </a:lnTo>
                <a:lnTo>
                  <a:pt x="515112" y="512540"/>
                </a:lnTo>
                <a:lnTo>
                  <a:pt x="545275" y="477560"/>
                </a:lnTo>
                <a:lnTo>
                  <a:pt x="569817" y="438222"/>
                </a:lnTo>
                <a:lnTo>
                  <a:pt x="588117" y="395142"/>
                </a:lnTo>
                <a:lnTo>
                  <a:pt x="599553" y="348938"/>
                </a:lnTo>
                <a:lnTo>
                  <a:pt x="603504" y="300227"/>
                </a:lnTo>
                <a:lnTo>
                  <a:pt x="599553" y="251517"/>
                </a:lnTo>
                <a:lnTo>
                  <a:pt x="588117" y="205313"/>
                </a:lnTo>
                <a:lnTo>
                  <a:pt x="569817" y="162233"/>
                </a:lnTo>
                <a:lnTo>
                  <a:pt x="545275" y="122895"/>
                </a:lnTo>
                <a:lnTo>
                  <a:pt x="515112" y="87915"/>
                </a:lnTo>
                <a:lnTo>
                  <a:pt x="479950" y="57912"/>
                </a:lnTo>
                <a:lnTo>
                  <a:pt x="440411" y="33501"/>
                </a:lnTo>
                <a:lnTo>
                  <a:pt x="397117" y="15300"/>
                </a:lnTo>
                <a:lnTo>
                  <a:pt x="350690" y="3928"/>
                </a:lnTo>
                <a:lnTo>
                  <a:pt x="3017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630423" y="2761488"/>
            <a:ext cx="329958" cy="32689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560320" y="2724911"/>
            <a:ext cx="470141" cy="45491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685288" y="2764535"/>
            <a:ext cx="222504" cy="21945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2702179" y="2754579"/>
            <a:ext cx="1905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0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12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563367" y="4212323"/>
            <a:ext cx="329958" cy="32995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493264" y="4175759"/>
            <a:ext cx="470141" cy="45491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618232" y="4215384"/>
            <a:ext cx="222504" cy="2225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635376" y="4207890"/>
            <a:ext cx="1905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17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63295" y="3715511"/>
            <a:ext cx="207264" cy="20726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193535" y="2913888"/>
            <a:ext cx="2884932" cy="140970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193535" y="2913888"/>
            <a:ext cx="2784348" cy="142798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6300215" y="2968751"/>
            <a:ext cx="2676525" cy="12014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746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295"/>
              </a:spcBef>
            </a:pPr>
            <a:r>
              <a:rPr sz="1200" b="1" u="sng" spc="-5" dirty="0">
                <a:solidFill>
                  <a:srgbClr val="043450"/>
                </a:solidFill>
                <a:uFill>
                  <a:solidFill>
                    <a:srgbClr val="043450"/>
                  </a:solidFill>
                </a:u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图例：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264160" indent="-171450">
              <a:lnSpc>
                <a:spcPct val="100000"/>
              </a:lnSpc>
              <a:spcBef>
                <a:spcPts val="10"/>
              </a:spcBef>
              <a:buFont typeface="Calibri" panose="020F0502020204030204"/>
              <a:buChar char="-"/>
              <a:tabLst>
                <a:tab pos="264160" algn="l"/>
                <a:tab pos="264795" algn="l"/>
              </a:tabLst>
            </a:pPr>
            <a:r>
              <a:rPr sz="1000" b="1" dirty="0">
                <a:solidFill>
                  <a:srgbClr val="6983A9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显示的消息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264160" indent="-171450">
              <a:lnSpc>
                <a:spcPct val="100000"/>
              </a:lnSpc>
              <a:buFont typeface="Calibri" panose="020F0502020204030204"/>
              <a:buChar char="-"/>
              <a:tabLst>
                <a:tab pos="264160" algn="l"/>
                <a:tab pos="264795" algn="l"/>
              </a:tabLst>
            </a:pPr>
            <a:r>
              <a:rPr sz="1000" b="1" dirty="0">
                <a:solidFill>
                  <a:srgbClr val="FFC00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显示消息+声音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264160" marR="189865" indent="-170815">
              <a:lnSpc>
                <a:spcPct val="100000"/>
              </a:lnSpc>
              <a:buFont typeface="Calibri" panose="020F0502020204030204"/>
              <a:buChar char="-"/>
              <a:tabLst>
                <a:tab pos="264160" algn="l"/>
                <a:tab pos="264795" algn="l"/>
              </a:tabLst>
            </a:pPr>
            <a:r>
              <a:rPr sz="1000" b="1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机器应用程序-AmitAPI（马歇尔协议）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264160" indent="-171450">
              <a:lnSpc>
                <a:spcPct val="100000"/>
              </a:lnSpc>
              <a:buFont typeface="Calibri" panose="020F0502020204030204"/>
              <a:buChar char="-"/>
              <a:tabLst>
                <a:tab pos="264160" algn="l"/>
                <a:tab pos="264795" algn="l"/>
              </a:tabLst>
            </a:pPr>
            <a:r>
              <a:rPr sz="1000" b="1" spc="5" dirty="0">
                <a:solidFill>
                  <a:srgbClr val="539CA9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AmitNayax的服务器AP</a:t>
            </a:r>
            <a:endParaRPr sz="1000">
              <a:latin typeface="Calibri" panose="020F0502020204030204"/>
              <a:cs typeface="Calibri" panose="020F0502020204030204"/>
            </a:endParaRPr>
          </a:p>
          <a:p>
            <a:pPr marL="264160" indent="-171450">
              <a:lnSpc>
                <a:spcPct val="100000"/>
              </a:lnSpc>
              <a:buFont typeface="Calibri" panose="020F0502020204030204"/>
              <a:buChar char="-"/>
              <a:tabLst>
                <a:tab pos="264160" algn="l"/>
                <a:tab pos="264795" algn="l"/>
              </a:tabLst>
            </a:pPr>
            <a:r>
              <a:rPr sz="1000" b="1" dirty="0">
                <a:solidFill>
                  <a:srgbClr val="E36C09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Nayax的服务器-银行/网关API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309871" y="1319783"/>
            <a:ext cx="326136" cy="28346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748528" y="1295400"/>
            <a:ext cx="213360" cy="31699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0" y="774700"/>
            <a:ext cx="9144000" cy="127000"/>
          </a:xfrm>
          <a:custGeom>
            <a:avLst/>
            <a:gdLst/>
            <a:ahLst/>
            <a:cxnLst/>
            <a:rect l="l" t="t" r="r" b="b"/>
            <a:pathLst>
              <a:path w="9144000" h="127000">
                <a:moveTo>
                  <a:pt x="0" y="127000"/>
                </a:moveTo>
                <a:lnTo>
                  <a:pt x="9144000" y="127000"/>
                </a:lnTo>
                <a:lnTo>
                  <a:pt x="9144000" y="0"/>
                </a:lnTo>
                <a:lnTo>
                  <a:pt x="0" y="0"/>
                </a:lnTo>
                <a:lnTo>
                  <a:pt x="0" y="127000"/>
                </a:lnTo>
                <a:close/>
              </a:path>
            </a:pathLst>
          </a:custGeom>
          <a:solidFill>
            <a:srgbClr val="6983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569464" y="1889772"/>
            <a:ext cx="329958" cy="2964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499360" y="1837944"/>
            <a:ext cx="470141" cy="45491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624327" y="1892807"/>
            <a:ext cx="222504" cy="18897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2641854" y="1867026"/>
            <a:ext cx="1905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11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190114" y="877315"/>
            <a:ext cx="450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波士特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2157983" y="1152144"/>
            <a:ext cx="515112" cy="61874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4342638" y="3238332"/>
            <a:ext cx="327025" cy="41783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40640" algn="ctr">
              <a:lnSpc>
                <a:spcPct val="100000"/>
              </a:lnSpc>
              <a:spcBef>
                <a:spcPts val="275"/>
              </a:spcBef>
            </a:pPr>
            <a:r>
              <a:rPr sz="1300" b="1" spc="-1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14</a:t>
            </a:r>
            <a:endParaRPr sz="130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1000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完成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132326" y="3629405"/>
            <a:ext cx="74739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提供产品/服务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545328" y="4053078"/>
            <a:ext cx="61404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635" algn="ctr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存储事务详细信息</a:t>
            </a:r>
            <a:endParaRPr sz="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93063" y="3572255"/>
            <a:ext cx="1188720" cy="344805"/>
          </a:xfrm>
          <a:custGeom>
            <a:avLst/>
            <a:gdLst/>
            <a:ahLst/>
            <a:cxnLst/>
            <a:rect l="l" t="t" r="r" b="b"/>
            <a:pathLst>
              <a:path w="1188720" h="344804">
                <a:moveTo>
                  <a:pt x="155498" y="0"/>
                </a:moveTo>
                <a:lnTo>
                  <a:pt x="0" y="172212"/>
                </a:lnTo>
                <a:lnTo>
                  <a:pt x="155498" y="344424"/>
                </a:lnTo>
                <a:lnTo>
                  <a:pt x="155498" y="280543"/>
                </a:lnTo>
                <a:lnTo>
                  <a:pt x="1188720" y="280543"/>
                </a:lnTo>
                <a:lnTo>
                  <a:pt x="1188720" y="63881"/>
                </a:lnTo>
                <a:lnTo>
                  <a:pt x="155498" y="63881"/>
                </a:lnTo>
                <a:lnTo>
                  <a:pt x="15549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1274825" y="3643376"/>
            <a:ext cx="52260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i="1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谢谢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953767" y="3633215"/>
            <a:ext cx="326898" cy="32689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880616" y="3596652"/>
            <a:ext cx="470141" cy="45185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008632" y="3636264"/>
            <a:ext cx="219456" cy="21945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2023998" y="3625977"/>
            <a:ext cx="1905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16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2791967" y="5541264"/>
            <a:ext cx="2727960" cy="335280"/>
          </a:xfrm>
          <a:custGeom>
            <a:avLst/>
            <a:gdLst/>
            <a:ahLst/>
            <a:cxnLst/>
            <a:rect l="l" t="t" r="r" b="b"/>
            <a:pathLst>
              <a:path w="2727960" h="335279">
                <a:moveTo>
                  <a:pt x="2569591" y="0"/>
                </a:moveTo>
                <a:lnTo>
                  <a:pt x="2569591" y="83820"/>
                </a:lnTo>
                <a:lnTo>
                  <a:pt x="0" y="83820"/>
                </a:lnTo>
                <a:lnTo>
                  <a:pt x="0" y="251460"/>
                </a:lnTo>
                <a:lnTo>
                  <a:pt x="2569591" y="251460"/>
                </a:lnTo>
                <a:lnTo>
                  <a:pt x="2569591" y="335280"/>
                </a:lnTo>
                <a:lnTo>
                  <a:pt x="2727960" y="167640"/>
                </a:lnTo>
                <a:lnTo>
                  <a:pt x="2569591" y="0"/>
                </a:lnTo>
                <a:close/>
              </a:path>
            </a:pathLst>
          </a:custGeom>
          <a:solidFill>
            <a:srgbClr val="539C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3649217" y="5608116"/>
            <a:ext cx="93345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i="1" spc="5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结算请求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700527" y="5806440"/>
            <a:ext cx="2746375" cy="332740"/>
          </a:xfrm>
          <a:custGeom>
            <a:avLst/>
            <a:gdLst/>
            <a:ahLst/>
            <a:cxnLst/>
            <a:rect l="l" t="t" r="r" b="b"/>
            <a:pathLst>
              <a:path w="2746375" h="332739">
                <a:moveTo>
                  <a:pt x="166116" y="0"/>
                </a:moveTo>
                <a:lnTo>
                  <a:pt x="0" y="166116"/>
                </a:lnTo>
                <a:lnTo>
                  <a:pt x="166116" y="332232"/>
                </a:lnTo>
                <a:lnTo>
                  <a:pt x="166116" y="249174"/>
                </a:lnTo>
                <a:lnTo>
                  <a:pt x="2746248" y="249174"/>
                </a:lnTo>
                <a:lnTo>
                  <a:pt x="2746248" y="83058"/>
                </a:lnTo>
                <a:lnTo>
                  <a:pt x="166116" y="83058"/>
                </a:lnTo>
                <a:lnTo>
                  <a:pt x="166116" y="0"/>
                </a:lnTo>
                <a:close/>
              </a:path>
            </a:pathLst>
          </a:custGeom>
          <a:solidFill>
            <a:srgbClr val="539C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3615944" y="5870549"/>
            <a:ext cx="99949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i="1" spc="5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结算响应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2578607" y="5580888"/>
            <a:ext cx="329958" cy="3299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508504" y="5547359"/>
            <a:ext cx="470141" cy="45185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633472" y="5583935"/>
            <a:ext cx="222503" cy="22250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2651251" y="5577332"/>
            <a:ext cx="1905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20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5343144" y="5858255"/>
            <a:ext cx="329958" cy="32689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273040" y="5821679"/>
            <a:ext cx="470141" cy="454913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398008" y="5861303"/>
            <a:ext cx="222503" cy="21945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5416041" y="5853176"/>
            <a:ext cx="1905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21</a:t>
            </a:r>
            <a:endParaRPr sz="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787521" y="881888"/>
            <a:ext cx="1330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43450"/>
                </a:solidFill>
                <a:latin typeface="宋体" panose="02010600030101010101" pitchFamily="2" charset="-122"/>
                <a:ea typeface="+mj-ea"/>
                <a:cs typeface="宋体" panose="02010600030101010101" pitchFamily="2" charset="-122"/>
              </a:rPr>
              <a:t>机器应用程序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38842c73-cdf4-4288-a493-06ce073feaa6}"/>
</p:tagLst>
</file>

<file path=ppt/tags/tag2.xml><?xml version="1.0" encoding="utf-8"?>
<p:tagLst xmlns:p="http://schemas.openxmlformats.org/presentationml/2006/main">
  <p:tag name="KSO_WM_UNIT_TABLE_BEAUTIFY" val="smartTable{24373a9b-aeab-4692-8d4c-9b0b69d05a1f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AFE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969</Words>
  <Application>WPS 演示</Application>
  <PresentationFormat>On-screen Show (4:3)</PresentationFormat>
  <Paragraphs>292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Arial</vt:lpstr>
      <vt:lpstr>Times New Roman</vt:lpstr>
      <vt:lpstr>微软雅黑</vt:lpstr>
      <vt:lpstr>Arial Unicode MS</vt:lpstr>
      <vt:lpstr>Office Theme</vt:lpstr>
      <vt:lpstr>范围</vt:lpstr>
      <vt:lpstr>系统概述</vt:lpstr>
      <vt:lpstr>传输数据表</vt:lpstr>
      <vt:lpstr>信用卡-选举前</vt:lpstr>
      <vt:lpstr>信用卡-选举前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Marshall Protocol</dc:title>
  <dc:creator>Philippe</dc:creator>
  <cp:lastModifiedBy>robotanno</cp:lastModifiedBy>
  <cp:revision>3</cp:revision>
  <dcterms:created xsi:type="dcterms:W3CDTF">2021-11-25T03:41:00Z</dcterms:created>
  <dcterms:modified xsi:type="dcterms:W3CDTF">2021-11-25T03:45:58Z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2021-11-26T00:00:00Z</vt:filetime>
  </property>
  <property fmtid="{D5CDD505-2E9C-101B-9397-08002B2CF9AE}" pid="5" name="ICV">
    <vt:lpwstr>464113BAFA35425D9197549A1971EDB4</vt:lpwstr>
  </property>
  <property fmtid="{D5CDD505-2E9C-101B-9397-08002B2CF9AE}" pid="6" name="KSOProductBuildVer">
    <vt:lpwstr>2052-11.1.0.11115</vt:lpwstr>
  </property>
</Properties>
</file>